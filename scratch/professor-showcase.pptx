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0"/>
            <a:ext cx="4236415" cy="6858000"/>
          </a:xfrm>
          <a:prstGeom prst="rect">
            <a:avLst/>
          </a:prstGeom>
          <a:solidFill>
            <a:srgbClr val="5B2A9E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0"/>
            <a:ext cx="4236415" cy="274320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4" name="Shape 2"/>
          <p:cNvSpPr/>
          <p:nvPr/>
        </p:nvSpPr>
        <p:spPr>
          <a:xfrm>
            <a:off x="8275320" y="960120"/>
            <a:ext cx="3566160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86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75320" y="9601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planner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75320" y="1673352"/>
            <a:ext cx="3566160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86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275320" y="1673352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retriever (RAG)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75320" y="2386584"/>
            <a:ext cx="3566160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86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275320" y="2386584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copywriter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75320" y="3099816"/>
            <a:ext cx="3566160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86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275320" y="3099816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75320" y="3813048"/>
            <a:ext cx="3566160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86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275320" y="3813048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image_gen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75320" y="4526280"/>
            <a:ext cx="3566160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86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45262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art_director ▶ 채점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75320" y="5239512"/>
            <a:ext cx="3566160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86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275320" y="5239512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reviser ↺ loop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11887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ENGINEERING · AGENTIC SYSTEM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1783080"/>
            <a:ext cx="6949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호출이 아니라
</a:t>
            </a:r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 시스템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822960" y="365760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검색(RAG)으로 근거를 대고 · 비전 모델이 결과를 채점해 스스로 고치는 · LangGraph 상태 그래프 기반 멀티에이전트 카드뉴스 생성 시스템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22960" y="4937760"/>
            <a:ext cx="1677924" cy="402336"/>
          </a:xfrm>
          <a:prstGeom prst="roundRect">
            <a:avLst>
              <a:gd name="adj" fmla="val 50000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937760"/>
            <a:ext cx="16779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LangGraph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647188" y="4937760"/>
            <a:ext cx="2386584" cy="402336"/>
          </a:xfrm>
          <a:prstGeom prst="roundRect">
            <a:avLst>
              <a:gd name="adj" fmla="val 50000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47188" y="4937760"/>
            <a:ext cx="23865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· pgvector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180076" y="4937760"/>
            <a:ext cx="2386584" cy="402336"/>
          </a:xfrm>
          <a:prstGeom prst="roundRect">
            <a:avLst>
              <a:gd name="adj" fmla="val 50000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80076" y="4937760"/>
            <a:ext cx="23865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LLM-as-a-judge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22960" y="5486400"/>
            <a:ext cx="2244852" cy="402336"/>
          </a:xfrm>
          <a:prstGeom prst="roundRect">
            <a:avLst>
              <a:gd name="adj" fmla="val 50000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5486400"/>
            <a:ext cx="22448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Structured IE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214116" y="5486400"/>
            <a:ext cx="3236976" cy="402336"/>
          </a:xfrm>
          <a:prstGeom prst="roundRect">
            <a:avLst>
              <a:gd name="adj" fmla="val 50000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14116" y="5486400"/>
            <a:ext cx="32369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FastAPI · Next.js 16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22960" y="6035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Hyunmin Han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432" cy="82296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3" name="Shape 1"/>
          <p:cNvSpPr/>
          <p:nvPr/>
        </p:nvSpPr>
        <p:spPr>
          <a:xfrm>
            <a:off x="6705432" y="0"/>
            <a:ext cx="5486263" cy="8229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03504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 CONTRIBUTIONS · 핵심 기여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87552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LLM 호출이면 불가능한 </a:t>
            </a:r>
            <a:pPr algn="l"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5가지 구조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10515600" cy="676656"/>
          </a:xfrm>
          <a:prstGeom prst="roundRect">
            <a:avLst>
              <a:gd name="adj" fmla="val 13514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331720"/>
            <a:ext cx="548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00200" y="2331720"/>
            <a:ext cx="57607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사이클(피드백 루프)을 가진 상태 그래프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452360" y="2331720"/>
            <a:ext cx="2743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5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Agentic workflow / cyclic graph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195560" y="2331720"/>
            <a:ext cx="10972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6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graph.py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22960" y="3099816"/>
            <a:ext cx="10515600" cy="676656"/>
          </a:xfrm>
          <a:prstGeom prst="roundRect">
            <a:avLst>
              <a:gd name="adj" fmla="val 13514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099816"/>
            <a:ext cx="548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00200" y="3099816"/>
            <a:ext cx="57607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사람이 만든 45개 디자인을 벡터 검색해 근거로 사용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452360" y="3099816"/>
            <a:ext cx="2743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5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(retrieval-grounded)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195560" y="3099816"/>
            <a:ext cx="10972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6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rag/store.py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22960" y="3867912"/>
            <a:ext cx="10515600" cy="676656"/>
          </a:xfrm>
          <a:prstGeom prst="roundRect">
            <a:avLst>
              <a:gd name="adj" fmla="val 13514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867912"/>
            <a:ext cx="548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00200" y="3867912"/>
            <a:ext cx="57607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비전 모델이 결과를 루브릭으로 채점 → 미달이면 재생성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452360" y="3867912"/>
            <a:ext cx="2743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5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LLM-as-a-judge / self-refine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195560" y="3867912"/>
            <a:ext cx="10972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6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art_director.py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22960" y="4636008"/>
            <a:ext cx="10515600" cy="676656"/>
          </a:xfrm>
          <a:prstGeom prst="roundRect">
            <a:avLst>
              <a:gd name="adj" fmla="val 13514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636008"/>
            <a:ext cx="548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600200" y="4636008"/>
            <a:ext cx="57607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자유형 텍스트 → JSON Schema strict 정보추출(IE)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452360" y="4636008"/>
            <a:ext cx="2743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5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Structured generation / IE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0195560" y="4636008"/>
            <a:ext cx="10972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6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lib/extract.ts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22960" y="5404104"/>
            <a:ext cx="10515600" cy="676656"/>
          </a:xfrm>
          <a:prstGeom prst="roundRect">
            <a:avLst>
              <a:gd name="adj" fmla="val 13514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5404104"/>
            <a:ext cx="548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⑤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600200" y="5404104"/>
            <a:ext cx="57607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N장 슬라이드를 병렬 fan-out으로 동시 생성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7452360" y="5404104"/>
            <a:ext cx="2743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5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Map-reduce / parallel dispatch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0195560" y="5404104"/>
            <a:ext cx="10972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6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graph.py: Send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22960" y="6327648"/>
            <a:ext cx="320040" cy="4572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카드뉴스 생성 시스템 · AI 엔지니어링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50976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432" cy="82296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3" name="Shape 1"/>
          <p:cNvSpPr/>
          <p:nvPr/>
        </p:nvSpPr>
        <p:spPr>
          <a:xfrm>
            <a:off x="6705432" y="0"/>
            <a:ext cx="5486263" cy="8229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03504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ARCHITECTURE · 책임 분리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87552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개의 서비스, </a:t>
            </a:r>
            <a:pPr algn="l"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각자 한 가지 책임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468880"/>
            <a:ext cx="4937760" cy="2194560"/>
          </a:xfrm>
          <a:prstGeom prst="roundRect">
            <a:avLst>
              <a:gd name="adj" fmla="val 4167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6974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Next.js 16 앱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3154680"/>
            <a:ext cx="4389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 · Auth · Prisma · DB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Fabric.js 캔버스 렌더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(표현 · 영속)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2468880"/>
            <a:ext cx="4937760" cy="2194560"/>
          </a:xfrm>
          <a:prstGeom prst="roundRect">
            <a:avLst>
              <a:gd name="adj" fmla="val 4167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26974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85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agent-service (Python)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75120" y="3154680"/>
            <a:ext cx="4389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FastAPI + LangGraph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오케스트레이션 "두뇌"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(AI 의사결정 · 루프)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760720" y="3291840"/>
            <a:ext cx="640080" cy="0"/>
          </a:xfrm>
          <a:prstGeom prst="line">
            <a:avLst/>
          </a:prstGeom>
          <a:noFill/>
          <a:ln w="25400">
            <a:solidFill>
              <a:srgbClr val="FF7A45"/>
            </a:solidFill>
            <a:prstDash val="solid"/>
            <a:headEnd type="triangl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394960" y="33832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SSE / HTTP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node-by-node 이벤트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22960" y="4937760"/>
            <a:ext cx="10515600" cy="1005840"/>
          </a:xfrm>
          <a:prstGeom prst="roundRect">
            <a:avLst>
              <a:gd name="adj" fmla="val 9091"/>
            </a:avLst>
          </a:prstGeom>
          <a:solidFill>
            <a:srgbClr val="12121A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5074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공유 인프라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" y="5394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Postgres (Neon)  ·  pgvector 인덱스(RAG)  ·  GPT-5.5 / gpt-image-2  ·  Vercel · Railway · Docker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21488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AI 로직을 UI에서 분리: 독립 배포 · 독립 스케일 · 독립 테스트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6327648"/>
            <a:ext cx="320040" cy="4572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카드뉴스 생성 시스템 · AI 엔지니어링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50976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432" cy="82296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3" name="Shape 1"/>
          <p:cNvSpPr/>
          <p:nvPr/>
        </p:nvSpPr>
        <p:spPr>
          <a:xfrm>
            <a:off x="6705432" y="0"/>
            <a:ext cx="5486263" cy="8229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03504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LANGGRAPH STATEGRAPH · 핵심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87552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사이클이 있는 </a:t>
            </a:r>
            <a:pPr algn="l"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자기수정 루프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10515600" cy="1920240"/>
          </a:xfrm>
          <a:prstGeom prst="roundRect">
            <a:avLst>
              <a:gd name="adj" fmla="val 3810"/>
            </a:avLst>
          </a:prstGeom>
          <a:solidFill>
            <a:srgbClr val="10131C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542032"/>
            <a:ext cx="10058400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B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planner → retriever → copywriter ─┬─▶ render_slide ─┐</a:t>
            </a:r>
            <a:endParaRPr lang="en-US" sz="12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B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├─▶ render_slide ─┼─▶ collect → END</a:t>
            </a:r>
            <a:endParaRPr lang="en-US" sz="12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B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└─▶ render_slide ─┘   (슬라이드마다 1 브랜치, 병렬)</a:t>
            </a:r>
            <a:endParaRPr lang="en-US" sz="1250" dirty="0"/>
          </a:p>
          <a:p>
            <a:pPr algn="l" indent="0" marL="0">
              <a:lnSpc>
                <a:spcPts val="1900"/>
              </a:lnSpc>
              <a:buNone/>
            </a:pPr>
            <a:endParaRPr lang="en-US" sz="12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B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render_slide 내부:  designer → image_gen → art_director(비전 채점)</a:t>
            </a:r>
            <a:endParaRPr lang="en-US" sz="12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B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▲                       │</a:t>
            </a:r>
            <a:endParaRPr lang="en-US" sz="12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B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└──── reviser ◀─────────┘  (score&lt;th 이면 loop)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4572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45720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planner — 주제를 슬라이드 역할로 분해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172200" y="4572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46520" y="45720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retriever — 45개 템플릿 top-k 코사인 검색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51206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51206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copywriter — 검색 톤에 맞춰 카피 작성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172200" y="51206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46520" y="51206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art_director — 루브릭 0~10 채점 + 수정안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56692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56692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reviser — 수정안을 지시문으로 designer 루프백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172200" y="56692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46520" y="56692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종료 — 점수 ≥ 임계값 OR 최대 반복수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" y="6327648"/>
            <a:ext cx="320040" cy="4572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카드뉴스 생성 시스템 · AI 엔지니어링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50976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432" cy="82296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3" name="Shape 1"/>
          <p:cNvSpPr/>
          <p:nvPr/>
        </p:nvSpPr>
        <p:spPr>
          <a:xfrm>
            <a:off x="6705432" y="0"/>
            <a:ext cx="5486263" cy="8229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03504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NOT A PROMPT CHAIN · 반론 차단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87552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"그냥 ChatGPT 호출 아니냐"에 대한 </a:t>
            </a:r>
            <a:pPr algn="l"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3가지 답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468880"/>
            <a:ext cx="3346704" cy="3383280"/>
          </a:xfrm>
          <a:prstGeom prst="roundRect">
            <a:avLst>
              <a:gd name="adj" fmla="val 2732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468880"/>
            <a:ext cx="91440" cy="338328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6517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97280" y="32004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사이클이 있다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370332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art_director → reviser → designer 는 피드백 루프. 일반 파이프라인이 표현 못 하는 구조. LangGraph가 상태+조건부 엣지+반복상한으로 1급 처리.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544068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상태기계로서의 에이전트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07408" y="2468880"/>
            <a:ext cx="3346704" cy="3383280"/>
          </a:xfrm>
          <a:prstGeom prst="roundRect">
            <a:avLst>
              <a:gd name="adj" fmla="val 2732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07408" y="2468880"/>
            <a:ext cx="91440" cy="338328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4" name="Text 12"/>
          <p:cNvSpPr/>
          <p:nvPr/>
        </p:nvSpPr>
        <p:spPr>
          <a:xfrm>
            <a:off x="4681728" y="26517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85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81728" y="32004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검색으로 근거를 댄다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81728" y="370332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/api/match는 템플릿 '이름'만 줬다(환각). 새 retriever는 실제 디자인 내용을 임베딩 → 코사인 랭킹. 모델 prior가 아닌 사람 레퍼런스에 grounding.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81728" y="544068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진짜 RAG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991856" y="2468880"/>
            <a:ext cx="3346704" cy="3383280"/>
          </a:xfrm>
          <a:prstGeom prst="roundRect">
            <a:avLst>
              <a:gd name="adj" fmla="val 2732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91856" y="2468880"/>
            <a:ext cx="91440" cy="3383280"/>
          </a:xfrm>
          <a:prstGeom prst="rect">
            <a:avLst/>
          </a:prstGeom>
          <a:solidFill>
            <a:srgbClr val="5AD19A"/>
          </a:solidFill>
          <a:ln/>
        </p:spPr>
      </p:sp>
      <p:sp>
        <p:nvSpPr>
          <p:cNvPr id="20" name="Text 18"/>
          <p:cNvSpPr/>
          <p:nvPr/>
        </p:nvSpPr>
        <p:spPr>
          <a:xfrm>
            <a:off x="8266176" y="26517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AD1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266176" y="32004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스스로 평가한다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66176" y="370332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비전 critic이 고정 루브릭(가독성/위계/여백/아티팩트/한글)으로 점수를 매겨 루프를 닫는다. 품질이 '가정'이 아니라 '측정'.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66176" y="544068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D1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eval-in-the-loop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" y="6327648"/>
            <a:ext cx="320040" cy="4572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카드뉴스 생성 시스템 · AI 엔지니어링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50976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432" cy="82296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3" name="Shape 1"/>
          <p:cNvSpPr/>
          <p:nvPr/>
        </p:nvSpPr>
        <p:spPr>
          <a:xfrm>
            <a:off x="6705432" y="0"/>
            <a:ext cx="5486263" cy="8229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03504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ENGINEERING MATURITY · RAG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87552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 하나 없어도 도는 </a:t>
            </a:r>
            <a:pPr algn="l"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 우아한 성능저하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468880"/>
            <a:ext cx="10515600" cy="841248"/>
          </a:xfrm>
          <a:prstGeom prst="roundRect">
            <a:avLst>
              <a:gd name="adj" fmla="val 10870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468880"/>
            <a:ext cx="1097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AD1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1순위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194560" y="2468880"/>
            <a:ext cx="3657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pgvector + DATABASE_URL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943600" y="2468880"/>
            <a:ext cx="5212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DB에 임베딩 영속/질의 (운영 경로 · dense retrieval)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429000"/>
            <a:ext cx="10515600" cy="841248"/>
          </a:xfrm>
          <a:prstGeom prst="roundRect">
            <a:avLst>
              <a:gd name="adj" fmla="val 10870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429000"/>
            <a:ext cx="1097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AA9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2순위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194560" y="3429000"/>
            <a:ext cx="3657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in-process numpy 인덱스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943600" y="3429000"/>
            <a:ext cx="5212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startup 시 구축. DB 없어도 임베딩 검색 동작.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4389120"/>
            <a:ext cx="10515600" cy="841248"/>
          </a:xfrm>
          <a:prstGeom prst="roundRect">
            <a:avLst>
              <a:gd name="adj" fmla="val 10870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389120"/>
            <a:ext cx="10972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3순위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194560" y="4389120"/>
            <a:ext cx="3657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어휘 폴백 (토큰 + 한글 bigram)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943600" y="4389120"/>
            <a:ext cx="5212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OpenAI 키조차 없을 때. '흑돼지'↔'돼지'가 bigram 공유 → 신호 확보.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D1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⇒ 외부 호출 0으로 그래프가 end-to-end로 돈다 = CI · 오프라인 데모 · 테스트 가능 (agent-service/tests/)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" y="6327648"/>
            <a:ext cx="320040" cy="4572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카드뉴스 생성 시스템 · AI 엔지니어링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50976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432" cy="82296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3" name="Shape 1"/>
          <p:cNvSpPr/>
          <p:nvPr/>
        </p:nvSpPr>
        <p:spPr>
          <a:xfrm>
            <a:off x="6705432" y="0"/>
            <a:ext cx="5486263" cy="8229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03504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SELF-CORRECTION · 품질의 내재화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87552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비전 critic이 </a:t>
            </a:r>
            <a:pPr algn="l"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점수로 루프를 닫는다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468880"/>
            <a:ext cx="5120640" cy="3291840"/>
          </a:xfrm>
          <a:prstGeom prst="roundRect">
            <a:avLst>
              <a:gd name="adj" fmla="val 2778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651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루브릭 채점 (JSON 강제 출력)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3108960"/>
            <a:ext cx="45720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0~10점 채점 기준
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구도 / 시각적 위계
• 색·무드의 매력
• 하단 텍스트 오버레이용 여백
• 잡티·아티팩트 유무
• 이미지에 글자 보이면 큰 감점
</a:t>
            </a:r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out: {score, issues[], fixes[], has_text}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2468880"/>
            <a:ext cx="5120640" cy="3291840"/>
          </a:xfrm>
          <a:prstGeom prst="roundRect">
            <a:avLst>
              <a:gd name="adj" fmla="val 2778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651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5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한글 타이포: 구조적 해결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3108960"/>
            <a:ext cx="45720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문제: </a:t>
            </a:r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확산모델이 한글을 픽셀로 구우면 헛글자 발생
</a:t>
            </a:r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5AD1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해결: </a:t>
            </a:r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배경엔 글자 0개로 강제 + 한국어 카피는 브라우저에서 진짜 텍스트 객체로 오버레이
</a:t>
            </a:r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편집 가능 + 한글 자형 정상. critic 루브릭이 '글자 보이면 감점'으로 불변식을 강제.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1488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핵심: 품질을 '잘 나오겠지'가 아니라 루브릭으로 정량 채점하고, 그 점수를 종료조건으로 쓴다.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6327648"/>
            <a:ext cx="320040" cy="4572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카드뉴스 생성 시스템 · AI 엔지니어링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50976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432" cy="82296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3" name="Shape 1"/>
          <p:cNvSpPr/>
          <p:nvPr/>
        </p:nvSpPr>
        <p:spPr>
          <a:xfrm>
            <a:off x="6705432" y="0"/>
            <a:ext cx="5486263" cy="8229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03504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INFORMATION EXTRACTION · 별도 어필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87552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자유형 텍스트 → </a:t>
            </a:r>
            <a:pPr algn="l"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결정적 구조 데이터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46888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6060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7A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301752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URL이면 cheerio로</a:t>
            </a:r>
            <a:endParaRPr lang="en-US" sz="11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본문/메타 추출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18688" y="2468880"/>
            <a:ext cx="365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520440" y="246888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26060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7A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01752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보일러플레이트 제거</a:t>
            </a:r>
            <a:endParaRPr lang="en-US" sz="11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토큰 절약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16168" y="2468880"/>
            <a:ext cx="365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246888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26060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7A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55080" y="301752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JSON Schema strict</a:t>
            </a:r>
            <a:endParaRPr lang="en-US" sz="11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강제 추출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613648" y="2468880"/>
            <a:ext cx="365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915400" y="246888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15400" y="26060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7A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052560" y="301752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스키마 후처리</a:t>
            </a:r>
            <a:endParaRPr lang="en-US" sz="11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9A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슬라이드 수 정합성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22960" y="4069080"/>
            <a:ext cx="10515600" cy="1691640"/>
          </a:xfrm>
          <a:prstGeom prst="roundRect">
            <a:avLst>
              <a:gd name="adj" fmla="val 4324"/>
            </a:avLst>
          </a:prstGeom>
          <a:solidFill>
            <a:srgbClr val="10131C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4233672"/>
            <a:ext cx="10058400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B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CardBrief — JSON Schema(strict)로 모델이 형식을 어길 수 없게 강제</a:t>
            </a:r>
            <a:endParaRPr lang="en-US" sz="12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B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headline · summary · key_points[3..6] · entities[{name, type}]</a:t>
            </a:r>
            <a:endParaRPr lang="en-US" sz="12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B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tone: enum(informative|promotional|casual|urgent|educational)</a:t>
            </a:r>
            <a:endParaRPr lang="en-US" sz="12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B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slides[3..6]: {role: cover|point|cta, title, body}</a:t>
            </a:r>
            <a:endParaRPr lang="en-US" sz="12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B0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NER + 분류 + 요약 + 구조화 분할을 한 번의 extraction으로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22960" y="6327648"/>
            <a:ext cx="320040" cy="4572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카드뉴스 생성 시스템 · AI 엔지니어링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50976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432" cy="82296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3" name="Shape 1"/>
          <p:cNvSpPr/>
          <p:nvPr/>
        </p:nvSpPr>
        <p:spPr>
          <a:xfrm>
            <a:off x="6705432" y="0"/>
            <a:ext cx="5486263" cy="8229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03504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LIMITATIONS &amp; NEXT · 정직성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87552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한계를 먼저 말한다 </a:t>
            </a:r>
            <a:pPr algn="l"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(그게 신뢰를 만든다)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468880"/>
            <a:ext cx="5120640" cy="3200400"/>
          </a:xfrm>
          <a:prstGeom prst="roundRect">
            <a:avLst>
              <a:gd name="adj" fmla="val 2857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651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한계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3154680"/>
            <a:ext cx="4663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critic 점수의 오프라인 검증(골든셋) 미비
</a:t>
            </a:r>
            <a:pPr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RAG 코퍼스가 45개로 작음 (확장 필요)
</a:t>
            </a:r>
            <a:pPr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비용/지연 줄일 모델 라우팅 미적용
</a:t>
            </a:r>
            <a:pPr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(쉬운 카드는 저렴 모델로)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2468880"/>
            <a:ext cx="5120640" cy="3200400"/>
          </a:xfrm>
          <a:prstGeom prst="roundRect">
            <a:avLst>
              <a:gd name="adj" fmla="val 2857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651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D1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로드맵 (증명 계획)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3154680"/>
            <a:ext cx="4663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골든셋 eval: 사람 점수 vs critic 상관
</a:t>
            </a:r>
            <a:pPr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OCR → IE 엔드투엔드 라우트
</a:t>
            </a:r>
            <a:pPr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HF 한국어 tone 분류기 파인튜닝
</a:t>
            </a:r>
            <a:pPr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FastAPI+Docker 클라우드 서빙 + CI/CD
</a:t>
            </a:r>
            <a:pPr indent="0" marL="0">
              <a:lnSpc>
                <a:spcPts val="2600"/>
              </a:lnSpc>
              <a:buNone/>
            </a:pPr>
            <a:r>
              <a:rPr lang="en-US" sz="1350" dirty="0">
                <a:solidFill>
                  <a:srgbClr val="6E6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docs/AI_ENGINEER_GAP_ROADMAP.md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6327648"/>
            <a:ext cx="320040" cy="4572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카드뉴스 생성 시스템 · AI 엔지니어링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50976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05432" cy="82296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3" name="Shape 1"/>
          <p:cNvSpPr/>
          <p:nvPr/>
        </p:nvSpPr>
        <p:spPr>
          <a:xfrm>
            <a:off x="6705432" y="0"/>
            <a:ext cx="5486263" cy="8229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03504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 ONE BREATH · 한 문장 요약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87552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검색으로 근거 대고 · 채점으로 </a:t>
            </a:r>
            <a:pPr algn="l"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스스로 고치는</a:t>
            </a:r>
            <a:pPr algn="l"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에이전트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10515600" cy="2377440"/>
          </a:xfrm>
          <a:prstGeom prst="roundRect">
            <a:avLst>
              <a:gd name="adj" fmla="val 3846"/>
            </a:avLst>
          </a:prstGeom>
          <a:solidFill>
            <a:srgbClr val="14141E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651760"/>
            <a:ext cx="9784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"카드뉴스 생성을 단일 AI 호출이 아니라 에이전트 시스템으로 재설계했습니다. </a:t>
            </a:r>
            <a:pPr indent="0" marL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사람이 만든 45개 디자인을 벡터 검색(RAG)</a:t>
            </a:r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 근거로 대고, 결과를 </a:t>
            </a:r>
            <a:pPr indent="0" marL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A85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비전 모델이 루브릭으로 채점해 미달이면 다시 만드는 자기수정 루프</a:t>
            </a:r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LangGraph로 구현했습니다. 한글이 깨지는 확산모델 한계는 </a:t>
            </a:r>
            <a:pPr indent="0" marL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5AD1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'배경엔 글자 0개, 텍스트는 진짜 객체로 오버레이'라는 구조</a:t>
            </a:r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F5F5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 제거했습니다. 한계도 분명합니다 — critic 점수의 오프라인 검증과 RAG 코퍼스 확장이 다음 과제입니다."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5029200"/>
            <a:ext cx="2670048" cy="402336"/>
          </a:xfrm>
          <a:prstGeom prst="roundRect">
            <a:avLst>
              <a:gd name="adj" fmla="val 50000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029200"/>
            <a:ext cx="2670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LangGraph 상태 그래프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39312" y="5029200"/>
            <a:ext cx="2386584" cy="402336"/>
          </a:xfrm>
          <a:prstGeom prst="roundRect">
            <a:avLst>
              <a:gd name="adj" fmla="val 50000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9312" y="5029200"/>
            <a:ext cx="23865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· pgvector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5029200"/>
            <a:ext cx="2386584" cy="402336"/>
          </a:xfrm>
          <a:prstGeom prst="roundRect">
            <a:avLst>
              <a:gd name="adj" fmla="val 50000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5029200"/>
            <a:ext cx="23865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LLM-as-a-judge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05088" y="5029200"/>
            <a:ext cx="2244852" cy="402336"/>
          </a:xfrm>
          <a:prstGeom prst="roundRect">
            <a:avLst>
              <a:gd name="adj" fmla="val 50000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05088" y="5029200"/>
            <a:ext cx="22448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Structured IE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5577840"/>
            <a:ext cx="1819656" cy="402336"/>
          </a:xfrm>
          <a:prstGeom prst="roundRect">
            <a:avLst>
              <a:gd name="adj" fmla="val 50000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577840"/>
            <a:ext cx="18196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병렬 fan-out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788920" y="5577840"/>
            <a:ext cx="3236976" cy="402336"/>
          </a:xfrm>
          <a:prstGeom prst="roundRect">
            <a:avLst>
              <a:gd name="adj" fmla="val 50000"/>
            </a:avLst>
          </a:prstGeom>
          <a:solidFill>
            <a:srgbClr val="181822"/>
          </a:solidFill>
          <a:ln w="12700">
            <a:solidFill>
              <a:srgbClr val="2C2C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88920" y="5577840"/>
            <a:ext cx="32369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B0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graceful degradation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7A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감사합니다 · Q&amp;A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2960" y="6327648"/>
            <a:ext cx="320040" cy="4572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카드뉴스 생성 시스템 · AI 엔지니어링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50976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carnews-insta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Card-News Generation</dc:title>
  <dc:subject>AI 카드뉴스 생성 시스템 — AI 엔지니어링 발표</dc:subject>
  <dc:creator>Hyunmin Han</dc:creator>
  <cp:lastModifiedBy>Hyunmin Han</cp:lastModifiedBy>
  <cp:revision>1</cp:revision>
  <dcterms:created xsi:type="dcterms:W3CDTF">2026-06-13T13:58:23Z</dcterms:created>
  <dcterms:modified xsi:type="dcterms:W3CDTF">2026-06-13T13:58:23Z</dcterms:modified>
</cp:coreProperties>
</file>