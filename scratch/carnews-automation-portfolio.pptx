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0"/>
            <a:ext cx="4327855" cy="2880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8366760" y="1463040"/>
            <a:ext cx="1371600" cy="1783080"/>
          </a:xfrm>
          <a:prstGeom prst="roundRect">
            <a:avLst>
              <a:gd name="adj" fmla="val 6667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66960" y="1463040"/>
            <a:ext cx="1371600" cy="1783080"/>
          </a:xfrm>
          <a:prstGeom prst="roundRect">
            <a:avLst>
              <a:gd name="adj" fmla="val 6667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366760" y="3474720"/>
            <a:ext cx="1371600" cy="1783080"/>
          </a:xfrm>
          <a:prstGeom prst="roundRect">
            <a:avLst>
              <a:gd name="adj" fmla="val 6667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966960" y="3474720"/>
            <a:ext cx="1371600" cy="1783080"/>
          </a:xfrm>
          <a:prstGeom prst="roundRect">
            <a:avLst>
              <a:gd name="adj" fmla="val 6667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2344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· AI AUTOMATION SaaS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1828800"/>
            <a:ext cx="6858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콘텐츠는 빠르게,
</a:t>
            </a:r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카드뉴스는 자동으로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텍스트만 넣으면 완성되는 카드뉴스 — 1시간의 수작업을 5분으로 압축한 AI 콘텐츠 자동화 SaaS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4754880"/>
            <a:ext cx="1865376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754880"/>
            <a:ext cx="18653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16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852928" y="4754880"/>
            <a:ext cx="1572768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52928" y="4754880"/>
            <a:ext cx="15727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19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90288" y="4754880"/>
            <a:ext cx="2304288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4754880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 GPT-4o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5340096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340096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Fabric.js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06624" y="5340096"/>
            <a:ext cx="2304288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5340096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Prisma · Neon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989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Hyunmin Han · 1인 풀스택 기획·개발·배포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59893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OVERVIEW · 한 줄 요약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기획·요약·디자인까지 대신하는
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창작자용 카드뉴스 자동화 SaaS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3200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3611880"/>
            <a:ext cx="2788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· 풀스택 개발 · 배포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(1인 프로젝트)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434840" y="292608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3200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가치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611880"/>
            <a:ext cx="2788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텍스트 입력 → 카드뉴스 5장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생성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046720" y="292608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200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3611880"/>
            <a:ext cx="2788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Threads 조회수 13만 +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실고객 심층 인터뷰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0749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“제가 직접 콘텐츠를 운영하며 겪고, 고객 인터뷰로 검증한 실제 문제에서 출발한 제품입니다.”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ENGINEERING · 채용 요건 매칭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“기획한” 서비스가 아니라, 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설계·구현·배포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</a:t>
            </a:r>
            <a:endParaRPr lang="en-US" sz="33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시스템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10515600" cy="640080"/>
          </a:xfrm>
          <a:prstGeom prst="roundRect">
            <a:avLst>
              <a:gd name="adj" fmla="val 17143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916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5AD19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9169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63040" y="2743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 API 기반 AI 시스템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27432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GPT-4o Vision 분석 · 매칭 · 정보추출 파이프라인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601200" y="274320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B0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api/analyze · match · extract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3493008"/>
            <a:ext cx="10515600" cy="640080"/>
          </a:xfrm>
          <a:prstGeom prst="roundRect">
            <a:avLst>
              <a:gd name="adj" fmla="val 17143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366674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5AD19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6667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49300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기반 NLP / 정보추출(IE)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493008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structured outputs(JSON Schema)로 기사→카드 브리프 추출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3493008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B0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lib/extract.ts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22960" y="4242816"/>
            <a:ext cx="10515600" cy="640080"/>
          </a:xfrm>
          <a:prstGeom prst="roundRect">
            <a:avLst>
              <a:gd name="adj" fmla="val 17143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44165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5AD19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41655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63040" y="4242816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배포 · 운영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4242816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Vercel · Railway · Neon(Postgres) 환경변수·DB 연동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601200" y="4242816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B0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22960" y="4992624"/>
            <a:ext cx="10515600" cy="640080"/>
          </a:xfrm>
          <a:prstGeom prst="roundRect">
            <a:avLst>
              <a:gd name="adj" fmla="val 17143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51663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5AD19A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51663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63040" y="4992624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컨테이너 · 인프라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754880" y="4992624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멀티스테이지 Docker 빌드 · 배포 자동화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601200" y="4992624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B0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JD의 OpenAI API · IE · 클라우드 배포 · Docker 요건을 실제 코드/배포로 증명 — 학습·서빙(PyTorch·서버리스)은 진행 중 로드맵.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· 제작 병목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아이디어는 풍부하지만,
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과정 자체가 거대한 병목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기획 및 주제 선정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401568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40156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핵심 문구 요약 · 다듬기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968496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968496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장표별 텍스트 분할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35424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453542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디자인 템플릿 맞춤 작업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66560" y="2743200"/>
            <a:ext cx="4572000" cy="2697480"/>
          </a:xfrm>
          <a:prstGeom prst="roundRect">
            <a:avLst>
              <a:gd name="adj" fmla="val 4746"/>
            </a:avLst>
          </a:prstGeom>
          <a:solidFill>
            <a:srgbClr val="1C1C28"/>
          </a:solidFill>
          <a:ln w="19050">
            <a:solidFill>
              <a:srgbClr val="FF7A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0" y="31089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디자이너가 없는 1인 창작자에게,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132320" y="361188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반복 작업은 콘텐츠 생산을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가로막는 가장 큰 장벽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132320" y="48463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꾸준한 업로드가 필수지만, 매번 1시간 가까이 소요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532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아이디어(풍부함)  →  4단계 수작업(병목)  →  최종 업로드(느림)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TARGET · 시장 정의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 콘텐츠가 필요하지만
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리소스가 없는 실무자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업로드 빈도 →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274320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7A45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5196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425196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2834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32004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강사·교육 크리에이터 / 소상공인 SNS 운영자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브랜드 / 1인 마케터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디자인 리소스 없음 →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2926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타깃 명확화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352044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4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/ 매일 카드뉴스를 만들어야 하는 실무자</a:t>
            </a:r>
            <a:endParaRPr lang="en-US" sz="1450" dirty="0"/>
          </a:p>
          <a:p>
            <a:pPr marL="228600" indent="-2286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4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감각·인력은 부족하지만 브랜드 일관성은 필요</a:t>
            </a:r>
            <a:endParaRPr lang="en-US" sz="1450" dirty="0"/>
          </a:p>
          <a:p>
            <a:pPr marL="228600" indent="-2286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4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외주·도구 전환 비용이 부담되는 1인 운영 단위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SOLUTION · BEFORE / AFTER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1시간의 수작업을 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5분의 자동화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압축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5029200" cy="3108960"/>
          </a:xfrm>
          <a:prstGeom prst="roundRect">
            <a:avLst>
              <a:gd name="adj" fmla="val 3529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수작업 방식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3832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/ 작성  </a:t>
            </a:r>
            <a:pPr indent="0" marL="0">
              <a:buNone/>
            </a:pPr>
            <a:r>
              <a:rPr lang="en-US" sz="12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워드 프로세서 사용 · 20분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97280" y="395020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/ 배치  </a:t>
            </a:r>
            <a:pPr indent="0" marL="0">
              <a:buNone/>
            </a:pPr>
            <a:r>
              <a:rPr lang="en-US" sz="12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텍스트 수동 복사·붙여넣기 · 30분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97280" y="451713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의존도  </a:t>
            </a:r>
            <a:pPr indent="0" marL="0">
              <a:buNone/>
            </a:pPr>
            <a:r>
              <a:rPr lang="en-US" sz="12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감각 혹은 디자이너 필수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97280" y="5166360"/>
            <a:ext cx="4480560" cy="457200"/>
          </a:xfrm>
          <a:prstGeom prst="roundRect">
            <a:avLst>
              <a:gd name="adj" fmla="val 20000"/>
            </a:avLst>
          </a:prstGeom>
          <a:solidFill>
            <a:srgbClr val="33333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51663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소요 시간: 약 1시간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55080" y="2697480"/>
            <a:ext cx="4983480" cy="3108960"/>
          </a:xfrm>
          <a:prstGeom prst="roundRect">
            <a:avLst>
              <a:gd name="adj" fmla="val 4118"/>
            </a:avLst>
          </a:prstGeom>
          <a:solidFill>
            <a:srgbClr val="1C1C28"/>
          </a:solidFill>
          <a:ln w="19050">
            <a:solidFill>
              <a:srgbClr val="FF7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88036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SaaS 워크플로우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29400" y="33832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/ 작성  </a:t>
            </a:r>
            <a:pPr indent="0" marL="0">
              <a:buNone/>
            </a:pPr>
            <a:r>
              <a:rPr lang="en-US" sz="125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텍스트 입력창 하나로 통합 · 3분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29400" y="395020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/ 배치  </a:t>
            </a:r>
            <a:pPr indent="0" marL="0">
              <a:buNone/>
            </a:pPr>
            <a:r>
              <a:rPr lang="en-US" sz="125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슬라이드 분할·템플릿 자동 매핑 · 2분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29400" y="451713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의존도  </a:t>
            </a:r>
            <a:pPr indent="0" marL="0">
              <a:buNone/>
            </a:pPr>
            <a:r>
              <a:rPr lang="en-US" sz="125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누구나 혼자서 즉시 완성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29400" y="5166360"/>
            <a:ext cx="4434840" cy="45720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516636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소요 시간: 5분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 · 지능형 엔진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사고 과정을 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대신 수행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파이프라인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897484" y="3017520"/>
            <a:ext cx="1874520" cy="1828800"/>
          </a:xfrm>
          <a:prstGeom prst="roundRect">
            <a:avLst>
              <a:gd name="adj" fmla="val 6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7484" y="320040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88924" y="352044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텍스트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726284" y="3017520"/>
            <a:ext cx="34747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028036" y="3017520"/>
            <a:ext cx="1874520" cy="1828800"/>
          </a:xfrm>
          <a:prstGeom prst="roundRect">
            <a:avLst>
              <a:gd name="adj" fmla="val 6000"/>
            </a:avLst>
          </a:prstGeom>
          <a:solidFill>
            <a:srgbClr val="1C1C28"/>
          </a:solidFill>
          <a:ln w="19050">
            <a:solidFill>
              <a:srgbClr val="FF7A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8036" y="320040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GPT-4O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19476" y="352044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내용 요약 &amp;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 매핑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856836" y="3017520"/>
            <a:ext cx="34747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158588" y="3017520"/>
            <a:ext cx="1874520" cy="1828800"/>
          </a:xfrm>
          <a:prstGeom prst="roundRect">
            <a:avLst>
              <a:gd name="adj" fmla="val 6000"/>
            </a:avLst>
          </a:prstGeom>
          <a:solidFill>
            <a:srgbClr val="1C1C28"/>
          </a:solidFill>
          <a:ln w="19050">
            <a:solidFill>
              <a:srgbClr val="FF7A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58588" y="320040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 AI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250028" y="352044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가독성용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 분할 계산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87388" y="3017520"/>
            <a:ext cx="34747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289140" y="3017520"/>
            <a:ext cx="1874520" cy="1828800"/>
          </a:xfrm>
          <a:prstGeom prst="roundRect">
            <a:avLst>
              <a:gd name="adj" fmla="val 6000"/>
            </a:avLst>
          </a:prstGeom>
          <a:solidFill>
            <a:srgbClr val="1C1C28"/>
          </a:solidFill>
          <a:ln w="19050">
            <a:solidFill>
              <a:srgbClr val="FF7A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89140" y="320040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FABRIC.JS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80580" y="352044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템플릿 매핑 &amp;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추천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17940" y="3017520"/>
            <a:ext cx="34747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19692" y="3017520"/>
            <a:ext cx="1874520" cy="1828800"/>
          </a:xfrm>
          <a:prstGeom prst="roundRect">
            <a:avLst>
              <a:gd name="adj" fmla="val 6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19692" y="320040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511132" y="352044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카드뉴스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5장 렌더링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22960" y="5349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생성형 AI의 발전으로, 과거에는 불가능했던 '문맥 기반의 레이아웃 자동화'가 완전히 가능해졌습니다.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· 기술 스택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프론트 · 백엔드 · AI · 배포까지 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풀스택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10515600" cy="603504"/>
          </a:xfrm>
          <a:prstGeom prst="roundRect">
            <a:avLst>
              <a:gd name="adj" fmla="val 18182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697480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2697480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16 (App Router) · React 19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0" y="2697480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Quick Test UX · Figma 스타일 캔버스 에디터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410712"/>
            <a:ext cx="10515600" cy="603504"/>
          </a:xfrm>
          <a:prstGeom prst="roundRect">
            <a:avLst>
              <a:gd name="adj" fmla="val 18182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41071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Engine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3410712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Fabric.js (클라이언트 합성)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498080" y="3410712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객체 조작 · 스냅 · 텍스트 정밀 제어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4123944"/>
            <a:ext cx="10515600" cy="603504"/>
          </a:xfrm>
          <a:prstGeom prst="roundRect">
            <a:avLst>
              <a:gd name="adj" fmla="val 18182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4123944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4123944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 GPT-4o Vision · GPT Image / DALL·E 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98080" y="4123944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분석 · 요약·톤 매핑 · 이미지 생성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837176"/>
            <a:ext cx="10515600" cy="603504"/>
          </a:xfrm>
          <a:prstGeom prst="roundRect">
            <a:avLst>
              <a:gd name="adj" fmla="val 18182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4837176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 · DB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0" y="4837176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Prisma 7 · PostgreSQL (Neon)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4837176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GeneratedCard 스키마 · 마이그레이션 자동화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550408"/>
            <a:ext cx="10515600" cy="603504"/>
          </a:xfrm>
          <a:prstGeom prst="roundRect">
            <a:avLst>
              <a:gd name="adj" fmla="val 18182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5550408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383280" y="5550408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Vercel / Railway · Docker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98080" y="5550408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 배포 · 환경변수 자동화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ENGINEERING · 가장 큰 기술 도전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 수정이 아니라 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아키텍처를 통째로 전환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5029200" cy="2834640"/>
          </a:xfrm>
          <a:prstGeom prst="roundRect">
            <a:avLst>
              <a:gd name="adj" fmla="val 3871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880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3291840"/>
            <a:ext cx="4480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Puppeteer/Chromium 이미지 렌더가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배포(Railway)에서 반복 실패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crashpad · libnss3 · Node 버전 충돌 →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chromium-min → full → Node18 → Node20 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끝없는 땜질의 악순환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697480"/>
            <a:ext cx="4983480" cy="2834640"/>
          </a:xfrm>
          <a:prstGeom prst="roundRect">
            <a:avLst>
              <a:gd name="adj" fmla="val 4516"/>
            </a:avLst>
          </a:prstGeom>
          <a:solidFill>
            <a:srgbClr val="1C1C28"/>
          </a:solidFill>
          <a:ln w="19050">
            <a:solidFill>
              <a:srgbClr val="5AD1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880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D1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29400" y="3291840"/>
            <a:ext cx="4480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렌더링을 버리고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클라이언트 Fabric.js 합성으로 전환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인프라 의존성 제거 · 배포 안정화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즉각적인 미리보기 · 비용 절감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에디터 기능과 자연스럽게 통합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5669280"/>
            <a:ext cx="10515600" cy="566928"/>
          </a:xfrm>
          <a:prstGeom prst="roundRect">
            <a:avLst>
              <a:gd name="adj" fmla="val 12903"/>
            </a:avLst>
          </a:prstGeom>
          <a:solidFill>
            <a:srgbClr val="08080C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669280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</a:t>
            </a:r>
            <a:pPr indent="0" marL="0">
              <a:buNone/>
            </a:pPr>
            <a:r>
              <a:rPr lang="en-US" sz="1050" dirty="0">
                <a:solidFill>
                  <a:srgbClr val="FF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서버 Chromium 렌더 (crashpad·libnss3·Node 버전 지옥)     </a:t>
            </a:r>
            <a:pPr indent="0" marL="0">
              <a:buNone/>
            </a:pPr>
            <a:r>
              <a:rPr lang="en-US" sz="1050" dirty="0">
                <a:solidFill>
                  <a:srgbClr val="5AD1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</a:t>
            </a:r>
            <a:pPr indent="0" marL="0">
              <a:buNone/>
            </a:pPr>
            <a:r>
              <a:rPr lang="en-US" sz="1050" dirty="0">
                <a:solidFill>
                  <a:srgbClr val="5AD1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카드 렌더를 클라이언트 Fabric.js 합성으로 교체 (#19)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ENGINEERING · 정보추출(IE)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자유형 텍스트를 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결정적 구조 데이터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</a:t>
            </a:r>
            <a:endParaRPr lang="en-US" sz="33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변환하는 IE 파이프라인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93496" y="288036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1C1C28"/>
          </a:solidFill>
          <a:ln w="16510">
            <a:solidFill>
              <a:srgbClr val="FF7A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3496" y="3044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Load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3496" y="3447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/ 텍스트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03224" y="3749040"/>
            <a:ext cx="21122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cheerio 본문·메타 추출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70352" y="2880360"/>
            <a:ext cx="40233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17824" y="288036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1C1C28"/>
          </a:solidFill>
          <a:ln w="16510">
            <a:solidFill>
              <a:srgbClr val="FF7A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7824" y="3044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7824" y="3447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정제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27552" y="3749040"/>
            <a:ext cx="21122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보일러플레이트 제거·길이 제한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894680" y="2880360"/>
            <a:ext cx="40233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42152" y="288036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1C1C28"/>
          </a:solidFill>
          <a:ln w="16510">
            <a:solidFill>
              <a:srgbClr val="FF7A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42152" y="3044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Extract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42152" y="3447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GPT-4o-mini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51880" y="3749040"/>
            <a:ext cx="21122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structured outputs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JSON Schema(strict)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19008" y="2880360"/>
            <a:ext cx="40233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866480" y="288036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1C1C28"/>
          </a:solidFill>
          <a:ln w="16510">
            <a:solidFill>
              <a:srgbClr val="FF7A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6480" y="3044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866480" y="3447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정합성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976208" y="3749040"/>
            <a:ext cx="21122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 역할 보정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2960" y="489204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08080C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502920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POST /api/extract → CardBrief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DD3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headline, summary, key_points[],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B0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entities[]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DD3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tone,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B0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slides[]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DD3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}  → 카드뉴스 컴포지터로 연결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 &amp; RESULTS · 개발 과정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페어 코딩으로 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배포까지 한 흐름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9260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2일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51560" y="370332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골격을 거의 다 뽑은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집중 스프린트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20440" y="274320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29260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749040" y="370332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이틀간 쌓인 커밋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(전체의 90%+)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74320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9260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13만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446520" y="370332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Threads 조회수로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검증한 시장 수요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15400" y="274320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29260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144000" y="370332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기획·프론트·백·AI·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풀스택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작업 방식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51663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40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아키텍처 전환·반복 픽스를 AI에게 통째로 위임하고 사람은 방향을 결정</a:t>
            </a:r>
            <a:endParaRPr lang="en-US" sz="1300" dirty="0"/>
          </a:p>
          <a:p>
            <a:pPr marL="203200" indent="-203200">
              <a:lnSpc>
                <a:spcPct val="140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MCP로 디자인·DB·배포·문서를 한 창에서 연결한 '작업 비서' 워크플로우</a:t>
            </a:r>
            <a:endParaRPr lang="en-US" sz="1300" dirty="0"/>
          </a:p>
          <a:p>
            <a:pPr marL="203200" indent="-203200">
              <a:lnSpc>
                <a:spcPct val="140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웹·모바일에서 브랜치·PR까지 — 로컬 터미널 없이 어디서든 개발 진행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" name="Shape 2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&amp; 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단발성 툴이 아닌, </a:t>
            </a:r>
            <a:pPr algn="l"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고객의 성장을 견인하는 구독 BM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Content Flywheel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제작 시간의 압도적 단축 (SaaS 사용)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콘텐츠 업로드 빈도 · 일관성 증가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SNS 조회수 · 인게이지먼트 성장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정기 구독 유지 및 락인(Lock-in)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53492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매주 콘텐츠를 발행해야 하므로 '월간 구독 인프라'로 자리 잡습니다.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0" y="2743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Roadmap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200400"/>
            <a:ext cx="5212080" cy="548640"/>
          </a:xfrm>
          <a:prstGeom prst="roundRect">
            <a:avLst>
              <a:gd name="adj" fmla="val 2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3319272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5AD19A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3319272"/>
            <a:ext cx="777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0E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223760" y="320040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차세대 이미지 생성 엔진 · 캔버스 에디터 V2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3858768"/>
            <a:ext cx="5212080" cy="548640"/>
          </a:xfrm>
          <a:prstGeom prst="roundRect">
            <a:avLst>
              <a:gd name="adj" fmla="val 2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97764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5AD19A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977640"/>
            <a:ext cx="777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0E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223760" y="385876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스키마 · Neon 연동 · 마이그레이션 자동화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517136"/>
            <a:ext cx="5212080" cy="548640"/>
          </a:xfrm>
          <a:prstGeom prst="roundRect">
            <a:avLst>
              <a:gd name="adj" fmla="val 2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463600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4636008"/>
            <a:ext cx="777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0E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223760" y="4517136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보관함 — 생성 카드뉴스 영구 저장·개인 갤러리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26480" y="5175504"/>
            <a:ext cx="5212080" cy="548640"/>
          </a:xfrm>
          <a:prstGeom prst="roundRect">
            <a:avLst>
              <a:gd name="adj" fmla="val 2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9360" y="5294376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5294376"/>
            <a:ext cx="777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0E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223760" y="5175504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프리미엄 빌링 — 사용량 대시보드·구독 요금제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카드뉴스 자동화 SaaS · 포트폴리오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검증된 시장 · 준비된 기술 · 이를 증명한 실행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디자인의 장벽을 허물고
</a:t>
            </a:r>
            <a:pPr algn="ctr"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누구나 크리에이터가 되는 세상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Need · Tech Enabler · Founder Fit — 가장 빠르고 날카롭게 문제를 해결할 최적의 타이밍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0" y="5212080"/>
            <a:ext cx="1865376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0" y="5212080"/>
            <a:ext cx="18653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16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73168" y="5212080"/>
            <a:ext cx="1572768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73168" y="5212080"/>
            <a:ext cx="15727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19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10528" y="5212080"/>
            <a:ext cx="2304288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5212080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 GPT-4o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5797296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0" y="5797296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Fabric.js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26864" y="5797296"/>
            <a:ext cx="2304288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5797296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Prisma · Neon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95744" y="5797296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95744" y="5797296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Vercel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Hyunmin Han · 2026   ·   감사합니다 🙌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carnews-insta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카드뉴스 자동화 SaaS</dc:title>
  <dc:subject>AI 카드뉴스 자동화 SaaS — 포트폴리오</dc:subject>
  <dc:creator>Hyunmin Han</dc:creator>
  <cp:lastModifiedBy>Hyunmin Han</cp:lastModifiedBy>
  <cp:revision>1</cp:revision>
  <dcterms:created xsi:type="dcterms:W3CDTF">2026-06-12T14:50:02Z</dcterms:created>
  <dcterms:modified xsi:type="dcterms:W3CDTF">2026-06-12T14:50:02Z</dcterms:modified>
</cp:coreProperties>
</file>