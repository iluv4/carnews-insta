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327855" cy="685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0"/>
            <a:ext cx="4327855" cy="288036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4" name="Shape 2"/>
          <p:cNvSpPr/>
          <p:nvPr/>
        </p:nvSpPr>
        <p:spPr>
          <a:xfrm>
            <a:off x="8366760" y="1554480"/>
            <a:ext cx="1463040" cy="1691640"/>
          </a:xfrm>
          <a:prstGeom prst="roundRect">
            <a:avLst>
              <a:gd name="adj" fmla="val 6250"/>
            </a:avLst>
          </a:prstGeom>
          <a:solidFill>
            <a:srgbClr val="FFFFFF">
              <a:alpha val="86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366760" y="1554480"/>
            <a:ext cx="14630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DeepSeek-VL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966960" y="1554480"/>
            <a:ext cx="1463040" cy="1691640"/>
          </a:xfrm>
          <a:prstGeom prst="roundRect">
            <a:avLst>
              <a:gd name="adj" fmla="val 6250"/>
            </a:avLst>
          </a:prstGeom>
          <a:solidFill>
            <a:srgbClr val="FFFFFF">
              <a:alpha val="86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966960" y="1554480"/>
            <a:ext cx="14630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Llama Vision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366760" y="3474720"/>
            <a:ext cx="1463040" cy="1691640"/>
          </a:xfrm>
          <a:prstGeom prst="roundRect">
            <a:avLst>
              <a:gd name="adj" fmla="val 6250"/>
            </a:avLst>
          </a:prstGeom>
          <a:solidFill>
            <a:srgbClr val="FFFFFF">
              <a:alpha val="86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366760" y="3474720"/>
            <a:ext cx="14630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Qwen3-VL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966960" y="3474720"/>
            <a:ext cx="1463040" cy="1691640"/>
          </a:xfrm>
          <a:prstGeom prst="roundRect">
            <a:avLst>
              <a:gd name="adj" fmla="val 6250"/>
            </a:avLst>
          </a:prstGeom>
          <a:solidFill>
            <a:srgbClr val="FFFFFF">
              <a:alpha val="86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966960" y="3474720"/>
            <a:ext cx="14630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GPT-5.5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11430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VISION-LANGUAGE MODEL · 선정과 구현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1737360"/>
            <a:ext cx="6949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카드뉴스 서비스를 위한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VLM 선정과 구현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22960" y="384048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"한국어 텍스트를 읽고 레이아웃을 설명하는" 모델은 무엇인가?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인식(OCR) vs 취향(미적 판단)을 나눠 보는 하이브리드 전략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56692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발표자 · Hyunmin Han</a:t>
            </a:r>
            <a:pPr indent="0" marL="0">
              <a:buNone/>
            </a:pPr>
            <a:r>
              <a:rPr lang="en-US" sz="13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| 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432" cy="82296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3" name="Shape 1"/>
          <p:cNvSpPr/>
          <p:nvPr/>
        </p:nvSpPr>
        <p:spPr>
          <a:xfrm>
            <a:off x="6705432" y="0"/>
            <a:ext cx="5486263" cy="8229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669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· BACKGROUND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VLM이란? 그리고 우리 서비스에서의 역할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2286000" cy="1188720"/>
          </a:xfrm>
          <a:prstGeom prst="roundRect">
            <a:avLst>
              <a:gd name="adj" fmla="val 7692"/>
            </a:avLst>
          </a:prstGeom>
          <a:solidFill>
            <a:srgbClr val="1C1C28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45059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9D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🖼️ 이미지 입력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 / 레퍼런스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08960" y="25603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566160" y="2286000"/>
            <a:ext cx="2286000" cy="1188720"/>
          </a:xfrm>
          <a:prstGeom prst="roundRect">
            <a:avLst>
              <a:gd name="adj" fmla="val 7692"/>
            </a:avLst>
          </a:prstGeom>
          <a:solidFill>
            <a:srgbClr val="1C1C28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245059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5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👁️ VLM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66160" y="2926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보고(see) + 추론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852160" y="25603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309360" y="2286000"/>
            <a:ext cx="2286000" cy="1188720"/>
          </a:xfrm>
          <a:prstGeom prst="roundRect">
            <a:avLst>
              <a:gd name="adj" fmla="val 7692"/>
            </a:avLst>
          </a:prstGeom>
          <a:solidFill>
            <a:srgbClr val="1C1C28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245059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D1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📝 텍스트 출력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09360" y="2926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OCR / 비평 / 설명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0" y="2286000"/>
            <a:ext cx="2240280" cy="1188720"/>
          </a:xfrm>
          <a:prstGeom prst="roundRect">
            <a:avLst>
              <a:gd name="adj" fmla="val 7692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81160" y="23957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 파이프라인 적용 지점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281160" y="26974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art_director (디자인 비평)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레퍼런스 45종 분석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한국어 텍스트 OCR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22960" y="3931920"/>
            <a:ext cx="10561320" cy="1828800"/>
          </a:xfrm>
          <a:prstGeom prst="roundRect">
            <a:avLst>
              <a:gd name="adj" fmla="val 5000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114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질문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45262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"이미지 속 한글 카피를 정확히 읽고(OCR), 레이아웃을 구조화해 설명하는 VLM은 무엇인가?"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097280" y="5212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서비스는 OpenAI GPT-5.5 비전을 사용 중 → 한국어 특화·비용·통제 관점에서 오픈 대안을 비교한다.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22960" y="6345936"/>
            <a:ext cx="320040" cy="4572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VLM 선정·구현 발표 · AI 카드뉴스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509760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432" cy="82296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3" name="Shape 1"/>
          <p:cNvSpPr/>
          <p:nvPr/>
        </p:nvSpPr>
        <p:spPr>
          <a:xfrm>
            <a:off x="6705432" y="0"/>
            <a:ext cx="5486263" cy="8229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669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· KEY INSIGHT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통찰 — VLM이 하는 '두 가지 일'을 구분하라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240280"/>
            <a:ext cx="5212080" cy="3200400"/>
          </a:xfrm>
          <a:prstGeom prst="roundRect">
            <a:avLst>
              <a:gd name="adj" fmla="val 2857"/>
            </a:avLst>
          </a:prstGeom>
          <a:solidFill>
            <a:srgbClr val="11233A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240280"/>
            <a:ext cx="5212080" cy="91440"/>
          </a:xfrm>
          <a:prstGeom prst="rect">
            <a:avLst/>
          </a:prstGeom>
          <a:solidFill>
            <a:srgbClr val="5B9DF9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4688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9D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인식 (Perception)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7280" y="29718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"한글 텍스트를 읽고 레이아웃을 설명"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097280" y="3429000"/>
            <a:ext cx="4663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OCR · 위치 · 그리드 · 색 팔레트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정답이 비교적 명확한 작업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오픈 모델이 상용 모델과 대등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최적: Qwen3-VL (오픈, 한국어 OCR 최강)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172200" y="2240280"/>
            <a:ext cx="5212080" cy="3200400"/>
          </a:xfrm>
          <a:prstGeom prst="roundRect">
            <a:avLst>
              <a:gd name="adj" fmla="val 2857"/>
            </a:avLst>
          </a:prstGeom>
          <a:solidFill>
            <a:srgbClr val="2A1633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2240280"/>
            <a:ext cx="5212080" cy="9144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24688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85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취향 (Taste)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46520" y="29718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"이 디자인이 아름다운가?"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46520" y="3429000"/>
            <a:ext cx="4663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미적 판단 · 위계 · 균형 감각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정답이 모호한 주관적 작업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아직 상용(폐쇄) 모델이 우위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최적: GPT-5.5 (취향 판단 최강, 유지)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2960" y="5669280"/>
            <a:ext cx="10561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B0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⚡ 이 구분이 전략의 핵심 — 모든 일을 한 모델에 맡기지 않는다. 인식은 오픈(저비용·통제), 취향은 상용(품질).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22960" y="6345936"/>
            <a:ext cx="320040" cy="4572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VLM 선정·구현 발표 · AI 카드뉴스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509760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432" cy="82296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3" name="Shape 1"/>
          <p:cNvSpPr/>
          <p:nvPr/>
        </p:nvSpPr>
        <p:spPr>
          <a:xfrm>
            <a:off x="6705432" y="0"/>
            <a:ext cx="5486263" cy="8229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669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· CANDIDATES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후보 모델 4종 개요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10561320" cy="841248"/>
          </a:xfrm>
          <a:prstGeom prst="roundRect">
            <a:avLst>
              <a:gd name="adj" fmla="val 10870"/>
            </a:avLst>
          </a:prstGeom>
          <a:solidFill>
            <a:srgbClr val="1C1C28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194560"/>
            <a:ext cx="91440" cy="841248"/>
          </a:xfrm>
          <a:prstGeom prst="rect">
            <a:avLst/>
          </a:prstGeom>
          <a:solidFill>
            <a:srgbClr val="5B9DF9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3042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DeepSeek-VL2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97280" y="26700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9D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"dipstick"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931920" y="245059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오픈소스 (MIT)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0" y="2286000"/>
            <a:ext cx="5212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강력한 OCR·문서 이해. 두 오픈 후보 중 한국어는 Llama보다 우위.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154680"/>
            <a:ext cx="10561320" cy="841248"/>
          </a:xfrm>
          <a:prstGeom prst="roundRect">
            <a:avLst>
              <a:gd name="adj" fmla="val 10870"/>
            </a:avLst>
          </a:prstGeom>
          <a:solidFill>
            <a:srgbClr val="1C1C28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3154680"/>
            <a:ext cx="91440" cy="841248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32644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Llama 3.2 Vision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97280" y="36301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7A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11B / 90B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931920" y="341071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오픈 (제한적)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035040" y="3246120"/>
            <a:ext cx="5212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Meta. 거대한 생태계. 단, 한국어 OCR 약함 + 라이선스 제약.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4114800"/>
            <a:ext cx="10561320" cy="841248"/>
          </a:xfrm>
          <a:prstGeom prst="roundRect">
            <a:avLst>
              <a:gd name="adj" fmla="val 10870"/>
            </a:avLst>
          </a:prstGeom>
          <a:solidFill>
            <a:srgbClr val="1C1C28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4114800"/>
            <a:ext cx="91440" cy="841248"/>
          </a:xfrm>
          <a:prstGeom prst="rect">
            <a:avLst/>
          </a:prstGeom>
          <a:solidFill>
            <a:srgbClr val="5AD19A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422452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Qwen3-VL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097280" y="45902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D1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8B / 32B / MoE  ⭐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931920" y="437083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오픈소스 (Apache-2.0)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035040" y="4206240"/>
            <a:ext cx="5212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32개 언어 OCR(한국어 포함) + 텍스트 바운딩박스 + 문서 파싱. 2.5-VL 대체.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22960" y="5074920"/>
            <a:ext cx="10561320" cy="841248"/>
          </a:xfrm>
          <a:prstGeom prst="roundRect">
            <a:avLst>
              <a:gd name="adj" fmla="val 10870"/>
            </a:avLst>
          </a:prstGeom>
          <a:solidFill>
            <a:srgbClr val="1C1C28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5074920"/>
            <a:ext cx="91440" cy="84124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6" name="Text 24"/>
          <p:cNvSpPr/>
          <p:nvPr/>
        </p:nvSpPr>
        <p:spPr>
          <a:xfrm>
            <a:off x="1097280" y="518464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GPT-5.5 (현재)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097280" y="55504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Closed API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931920" y="533095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상용 API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035040" y="5166360"/>
            <a:ext cx="5212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미적 '취향' 판단 최강. 단, 폐쇄형·종량 과금·셀프호스팅 불가.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22960" y="6172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Qwen3-VL은 발표 시점(2026-06) 최신 — 2.5-VL의 10개 → 32개 언어 OCR로 확장, 한국어 인식 향상.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22960" y="6345936"/>
            <a:ext cx="320040" cy="4572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VLM 선정·구현 발표 · AI 카드뉴스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509760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432" cy="82296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3" name="Shape 1"/>
          <p:cNvSpPr/>
          <p:nvPr/>
        </p:nvSpPr>
        <p:spPr>
          <a:xfrm>
            <a:off x="6705432" y="0"/>
            <a:ext cx="5486263" cy="8229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669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· COMPARISON MATRIX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 매트릭스 — 점수 비교 (5점 만점)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48840"/>
          <a:ext cx="10561320" cy="914400"/>
        </p:xfrm>
        <a:graphic>
          <a:graphicData uri="http://schemas.openxmlformats.org/drawingml/2006/table">
            <a:tbl>
              <a:tblPr/>
              <a:tblGrid>
                <a:gridCol w="3063240"/>
                <a:gridCol w="1874520"/>
                <a:gridCol w="1874520"/>
                <a:gridCol w="1874520"/>
                <a:gridCol w="18745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7A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평가 축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7A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DeepSeek-VL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7A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Llama Vision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7A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Qwen3-VL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7A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GPT-5.5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1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5F5F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한국어 OCR (30%)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B0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2727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D19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D19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5F5F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미적 판단 (25%)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4C15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4C15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B0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D19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5F5F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파인튜닝 용이성 (15%)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B0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B0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D19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2727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5F5F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라이선스 (10%)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D19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4C15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D19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2727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5F5F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비용 / 호스팅 (10%)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B0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B0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B0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2727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5F5F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생태계 (10%)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4C15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D19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B0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D19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5F5F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가중 합산 점수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5F5F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3.75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5F5F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3.15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5AD19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4.55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5F5F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3.85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3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색상: 초록=우수(5) · 주황=양호(4) · 노랑=보통(3) · 빨강=취약(≤2)   |   Qwen3-VL이 가중 합산 4.55로 최고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22960" y="6345936"/>
            <a:ext cx="320040" cy="4572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VLM 선정·구현 발표 · AI 카드뉴스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9509760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432" cy="82296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3" name="Shape 1"/>
          <p:cNvSpPr/>
          <p:nvPr/>
        </p:nvSpPr>
        <p:spPr>
          <a:xfrm>
            <a:off x="6705432" y="0"/>
            <a:ext cx="5486263" cy="8229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669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· HOSTING REALITY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오해 정리 — "GPU를 직접 빌려야 하나?" 아니오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10561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우리는 Railway(CPU 컨테이너)로 self-host 중. Railway엔 GPU가 없지만 — 괜찮다. 오케스트레이터는 모델을 'API로 호출'만 한다.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606040"/>
            <a:ext cx="3291840" cy="2377440"/>
          </a:xfrm>
          <a:prstGeom prst="roundRect">
            <a:avLst>
              <a:gd name="adj" fmla="val 3846"/>
            </a:avLst>
          </a:prstGeom>
          <a:solidFill>
            <a:srgbClr val="1C1C28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606040"/>
            <a:ext cx="3291840" cy="9144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7889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A. GPT-5.5 유지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051560" y="342900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GPU 주인:  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OpenAI
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GPU 관리:  </a:t>
            </a:r>
            <a:pPr indent="0" marL="0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A85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GPU 신경 안 씀
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노력 ⭐
</a:t>
            </a:r>
            <a:pPr indent="0" marL="0">
              <a:lnSpc>
                <a:spcPts val="1800"/>
              </a:lnSpc>
              <a:buNone/>
            </a:pPr>
            <a:r>
              <a:rPr lang="en-US" sz="1150" i="1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 연동됨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89120" y="2606040"/>
            <a:ext cx="3291840" cy="2377440"/>
          </a:xfrm>
          <a:prstGeom prst="roundRect">
            <a:avLst>
              <a:gd name="adj" fmla="val 3846"/>
            </a:avLst>
          </a:prstGeom>
          <a:solidFill>
            <a:srgbClr val="1C1C28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2606040"/>
            <a:ext cx="3291840" cy="91440"/>
          </a:xfrm>
          <a:prstGeom prst="rect">
            <a:avLst/>
          </a:prstGeom>
          <a:solidFill>
            <a:srgbClr val="5AD19A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27889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B. Qwen3-VL · 호스팅 API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617720" y="342900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GPU 주인:  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Together / OpenRouter
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GPU 관리:  </a:t>
            </a:r>
            <a:pPr indent="0" marL="0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5AD1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GPU 신경 안 씀
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노력 ⭐⭐
</a:t>
            </a:r>
            <a:pPr indent="0" marL="0">
              <a:lnSpc>
                <a:spcPts val="1800"/>
              </a:lnSpc>
              <a:buNone/>
            </a:pPr>
            <a:r>
              <a:rPr lang="en-US" sz="1150" i="1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base_url + 키만 교체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955280" y="2606040"/>
            <a:ext cx="3291840" cy="2377440"/>
          </a:xfrm>
          <a:prstGeom prst="roundRect">
            <a:avLst>
              <a:gd name="adj" fmla="val 3846"/>
            </a:avLst>
          </a:prstGeom>
          <a:solidFill>
            <a:srgbClr val="1C1C28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55280" y="2606040"/>
            <a:ext cx="3291840" cy="91440"/>
          </a:xfrm>
          <a:prstGeom prst="rect">
            <a:avLst/>
          </a:prstGeom>
          <a:solidFill>
            <a:srgbClr val="F4C152"/>
          </a:solidFill>
          <a:ln/>
        </p:spPr>
      </p:sp>
      <p:sp>
        <p:nvSpPr>
          <p:cNvPr id="17" name="Text 15"/>
          <p:cNvSpPr/>
          <p:nvPr/>
        </p:nvSpPr>
        <p:spPr>
          <a:xfrm>
            <a:off x="8183880" y="27889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C. 직접 셀프호스팅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183880" y="342900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GPU 주인:  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Replicate / Modal / RunPod
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GPU 관리:  </a:t>
            </a:r>
            <a:pPr indent="0" marL="0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F4C1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GPU 직접 임대 ✅
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노력 ⭐⭐⭐⭐
</a:t>
            </a:r>
            <a:pPr indent="0" marL="0">
              <a:lnSpc>
                <a:spcPts val="1800"/>
              </a:lnSpc>
              <a:buNone/>
            </a:pPr>
            <a:r>
              <a:rPr lang="en-US" sz="1150" i="1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선택사항 (대용량 시)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2960" y="5257800"/>
            <a:ext cx="10561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B0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➡  A·B는 GPU가 '내 삶에 없음'. 대부분 B를 선택 — 최고 오픈 한국어 OCR을 OpenAI 호출처럼 쉽게.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22960" y="6345936"/>
            <a:ext cx="320040" cy="4572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VLM 선정·구현 발표 · AI 카드뉴스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509760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432" cy="82296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3" name="Shape 1"/>
          <p:cNvSpPr/>
          <p:nvPr/>
        </p:nvSpPr>
        <p:spPr>
          <a:xfrm>
            <a:off x="6705432" y="0"/>
            <a:ext cx="5486263" cy="8229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669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· DECISION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전략 — 하이브리드 (취향=GPT-5.5 · 인식=Qwen3-VL)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057400"/>
            <a:ext cx="10561320" cy="1143000"/>
          </a:xfrm>
          <a:prstGeom prst="roundRect">
            <a:avLst>
              <a:gd name="adj" fmla="val 9600"/>
            </a:avLst>
          </a:prstGeom>
          <a:solidFill>
            <a:srgbClr val="134E3A"/>
          </a:solidFill>
          <a:ln w="19050">
            <a:solidFill>
              <a:srgbClr val="5AD1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21284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D1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✅ 인식용 선정 모델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2505456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Qwen3-VL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852160" y="2212848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취향 판단(art_director)은 GPT-5.5 유지 · 한글 OCR/레이아웃은 Qwen3-VL로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429000"/>
            <a:ext cx="3291840" cy="1783080"/>
          </a:xfrm>
          <a:prstGeom prst="roundRect">
            <a:avLst>
              <a:gd name="adj" fmla="val 5128"/>
            </a:avLst>
          </a:prstGeom>
          <a:solidFill>
            <a:srgbClr val="1C1C28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429000"/>
            <a:ext cx="91440" cy="1783080"/>
          </a:xfrm>
          <a:prstGeom prst="rect">
            <a:avLst/>
          </a:prstGeom>
          <a:solidFill>
            <a:srgbClr val="5AD19A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6118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높은 점수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97280" y="4041648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가중 합산 4.55/5 — 한국어 OCR·레이아웃에서 DeepSeek·Llama를 능가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389120" y="3429000"/>
            <a:ext cx="3291840" cy="1783080"/>
          </a:xfrm>
          <a:prstGeom prst="roundRect">
            <a:avLst>
              <a:gd name="adj" fmla="val 5128"/>
            </a:avLst>
          </a:prstGeom>
          <a:solidFill>
            <a:srgbClr val="1C1C28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0" y="3429000"/>
            <a:ext cx="91440" cy="1783080"/>
          </a:xfrm>
          <a:prstGeom prst="rect">
            <a:avLst/>
          </a:prstGeom>
          <a:solidFill>
            <a:srgbClr val="5B9DF9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36118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통제 + 저비용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63440" y="4041648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오픈·Apache 라이선스 → 종량 과금 탈피, 데이터 외부 유출 없이 운용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955280" y="3429000"/>
            <a:ext cx="3291840" cy="1783080"/>
          </a:xfrm>
          <a:prstGeom prst="roundRect">
            <a:avLst>
              <a:gd name="adj" fmla="val 5128"/>
            </a:avLst>
          </a:prstGeom>
          <a:solidFill>
            <a:srgbClr val="1C1C28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55280" y="3429000"/>
            <a:ext cx="91440" cy="178308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0" y="36118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현실적 하이브리드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29600" y="4041648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주관적 취향은 GPT-5.5, 객관적 인식은 Qwen3-VL — 강점만 조합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22960" y="5440680"/>
            <a:ext cx="10561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전환 비용  </a:t>
            </a:r>
            <a:pPr indent="0" marL="0">
              <a:buNone/>
            </a:pPr>
            <a:r>
              <a:rPr lang="en-US" sz="130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 코드 변경 0. env 3개(AGENT_ANALYZE_MODEL / _BASE_URL / _API_KEY)만 설정하면 즉시 교체.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22960" y="6345936"/>
            <a:ext cx="320040" cy="4572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VLM 선정·구현 발표 · AI 카드뉴스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509760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432" cy="82296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3" name="Shape 1"/>
          <p:cNvSpPr/>
          <p:nvPr/>
        </p:nvSpPr>
        <p:spPr>
          <a:xfrm>
            <a:off x="6705432" y="0"/>
            <a:ext cx="5486263" cy="8229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669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· WHAT WE SHIPPED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실제로 코드에 반영한 것 (agent-service)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10561320" cy="841248"/>
          </a:xfrm>
          <a:prstGeom prst="roundRect">
            <a:avLst>
              <a:gd name="adj" fmla="val 10870"/>
            </a:avLst>
          </a:prstGeom>
          <a:solidFill>
            <a:srgbClr val="1C1C28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148840"/>
            <a:ext cx="91440" cy="841248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267712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art_director 루브릭 업그레이드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937760" y="2240280"/>
            <a:ext cx="6309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5축 가중 채점(구도·여백·색무드·완성도·무문자) + Python 결정론적 집계 + 텍스트 게이트. 자기수정 루프의 품질 게이트를 안정·설명가능하게.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3108960"/>
            <a:ext cx="10561320" cy="841248"/>
          </a:xfrm>
          <a:prstGeom prst="roundRect">
            <a:avLst>
              <a:gd name="adj" fmla="val 10870"/>
            </a:avLst>
          </a:prstGeom>
          <a:solidFill>
            <a:srgbClr val="1C1C28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108960"/>
            <a:ext cx="91440" cy="841248"/>
          </a:xfrm>
          <a:prstGeom prst="rect">
            <a:avLst/>
          </a:prstGeom>
          <a:solidFill>
            <a:srgbClr val="5AD19A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227832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eval 하니스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937760" y="3200400"/>
            <a:ext cx="6309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무키 self-test(CI에서 채점 로직 검증) + 이미지 평가(축별 점수 + 사람 라벨 대비 밴드 정확도). 'good|ok|bad' 매니페스트.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4069080"/>
            <a:ext cx="10561320" cy="841248"/>
          </a:xfrm>
          <a:prstGeom prst="roundRect">
            <a:avLst>
              <a:gd name="adj" fmla="val 10870"/>
            </a:avLst>
          </a:prstGeom>
          <a:solidFill>
            <a:srgbClr val="1C1C28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069080"/>
            <a:ext cx="91440" cy="841248"/>
          </a:xfrm>
          <a:prstGeom prst="rect">
            <a:avLst/>
          </a:prstGeom>
          <a:solidFill>
            <a:srgbClr val="5B9DF9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4187952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analyze_reference + POST /analyze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937760" y="4160520"/>
            <a:ext cx="6309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레퍼런스 카드 → 한글 텍스트(OCR) + 레이아웃을 구조화 JSON으로. RAG의 'design DNA' 요약을 실제 근거로 채움.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" y="5029200"/>
            <a:ext cx="10561320" cy="841248"/>
          </a:xfrm>
          <a:prstGeom prst="roundRect">
            <a:avLst>
              <a:gd name="adj" fmla="val 10870"/>
            </a:avLst>
          </a:prstGeom>
          <a:solidFill>
            <a:srgbClr val="1C1C28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5029200"/>
            <a:ext cx="91440" cy="84124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5148072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 무관 설계 (Qwen3-VL 전환점)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937760" y="5120640"/>
            <a:ext cx="6309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vision 호출에 model/base_url/api_key 오버라이드 추가 → OpenAI 호환 제공자로 Qwen3-VL 전환. Railway는 CPU 유지.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60807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테스트 14개 통과 · eval self-test 통과 · PR #44 (branch: claude/vlm-selection-finetuning)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22960" y="6345936"/>
            <a:ext cx="320040" cy="4572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VLM 선정·구현 발표 · AI 카드뉴스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509760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432" cy="82296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3" name="Shape 1"/>
          <p:cNvSpPr/>
          <p:nvPr/>
        </p:nvSpPr>
        <p:spPr>
          <a:xfrm>
            <a:off x="6705432" y="0"/>
            <a:ext cx="5486263" cy="8229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669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· FINE-TUNING &amp; NEXT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파인튜닝은 '나중에' — 지금은 파이프라인이 우선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2468880" cy="1828800"/>
          </a:xfrm>
          <a:prstGeom prst="roundRect">
            <a:avLst>
              <a:gd name="adj" fmla="val 5000"/>
            </a:avLst>
          </a:prstGeom>
          <a:solidFill>
            <a:srgbClr val="1C1C28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2860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🧑‍🏫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5B9D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데이터 생성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60120" y="3218688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GPT-5.5가 카드를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평가·라벨링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'지식 증류'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54680" y="2788920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520440" y="2194560"/>
            <a:ext cx="2468880" cy="1828800"/>
          </a:xfrm>
          <a:prstGeom prst="roundRect">
            <a:avLst>
              <a:gd name="adj" fmla="val 5000"/>
            </a:avLst>
          </a:prstGeom>
          <a:solidFill>
            <a:srgbClr val="1C1C28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22860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🎓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520440" y="2834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A85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학습 (LoRA)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657600" y="3218688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모델의 ~1%만 학습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RTX 4090 1장(24GB)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LLaMA-Factory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52160" y="2788920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217920" y="2194560"/>
            <a:ext cx="2468880" cy="1828800"/>
          </a:xfrm>
          <a:prstGeom prst="roundRect">
            <a:avLst>
              <a:gd name="adj" fmla="val 5000"/>
            </a:avLst>
          </a:prstGeom>
          <a:solidFill>
            <a:srgbClr val="1C1C28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22860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🚀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217920" y="2834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5AD1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호스팅·서빙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355080" y="3218688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Railway=CPU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GPU 제공자 API로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호출 (B안)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549640" y="2788920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8915400" y="2194560"/>
            <a:ext cx="2468880" cy="1828800"/>
          </a:xfrm>
          <a:prstGeom prst="roundRect">
            <a:avLst>
              <a:gd name="adj" fmla="val 5000"/>
            </a:avLst>
          </a:prstGeom>
          <a:solidFill>
            <a:srgbClr val="1C1C28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15400" y="22860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💰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8915400" y="2834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4C1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9052560" y="3218688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큰 모델 행동을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복제한 작고 저렴한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전용 모델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22960" y="4251960"/>
            <a:ext cx="5212080" cy="1600200"/>
          </a:xfrm>
          <a:prstGeom prst="roundRect">
            <a:avLst>
              <a:gd name="adj" fmla="val 5714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7280" y="4389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❓ 정말 필요한가?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097280" y="475488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 RAG(45 템플릿 few-shot) 구축됨 → RAG + 프롬프트로 ~80% 해결. 파인튜닝은 일관 루브릭/비용 절감이 필요할 때.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172200" y="4251960"/>
            <a:ext cx="5212080" cy="1600200"/>
          </a:xfrm>
          <a:prstGeom prst="roundRect">
            <a:avLst>
              <a:gd name="adj" fmla="val 5714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46520" y="4389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AD1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➡ 다음 단계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446520" y="475488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/analyze로 45 레퍼런스 OCR·레이아웃 추출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RAG 요약을 실제 'design DNA'로 교체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(선택) GPT-5.5 라벨로 Qwen3-VL LoRA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22960" y="6345936"/>
            <a:ext cx="320040" cy="4572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VLM 선정·구현 발표 · AI 카드뉴스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509760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carnews-insta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카드뉴스 서비스를 위한 VLM 선정과 구현</dc:title>
  <dc:subject>VLM 모델 비교 · 선정 · 구현</dc:subject>
  <dc:creator>Hyunmin Han</dc:creator>
  <cp:lastModifiedBy>Hyunmin Han</cp:lastModifiedBy>
  <cp:revision>1</cp:revision>
  <dcterms:created xsi:type="dcterms:W3CDTF">2026-06-14T06:41:50Z</dcterms:created>
  <dcterms:modified xsi:type="dcterms:W3CDTF">2026-06-14T06:41:51Z</dcterms:modified>
</cp:coreProperties>
</file>