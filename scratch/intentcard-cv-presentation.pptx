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jpg"/><Relationship Id="rId3" Type="http://schemas.openxmlformats.org/officeDocument/2006/relationships/image" Target="../media/image-5-3.jpg"/><Relationship Id="rId4" Type="http://schemas.openxmlformats.org/officeDocument/2006/relationships/image" Target="../media/image-5-4.jpg"/><Relationship Id="rId5" Type="http://schemas.openxmlformats.org/officeDocument/2006/relationships/image" Target="../media/image-5-5.jpg"/><Relationship Id="rId6" Type="http://schemas.openxmlformats.org/officeDocument/2006/relationships/image" Target="../media/image-5-6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0"/>
            <a:ext cx="4327855" cy="68580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Shape 1"/>
          <p:cNvSpPr/>
          <p:nvPr/>
        </p:nvSpPr>
        <p:spPr>
          <a:xfrm>
            <a:off x="7863840" y="0"/>
            <a:ext cx="4327855" cy="2880360"/>
          </a:xfrm>
          <a:prstGeom prst="rect">
            <a:avLst/>
          </a:prstGeom>
          <a:solidFill>
            <a:srgbClr val="FF7A45"/>
          </a:solidFill>
          <a:ln/>
        </p:spPr>
      </p:sp>
      <p:pic>
        <p:nvPicPr>
          <p:cNvPr id="4" name="Image 0" descr="/home/user/carnews-insta/publi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32520" y="2103120"/>
            <a:ext cx="2606040" cy="2606040"/>
          </a:xfrm>
          <a:prstGeom prst="ellipse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114300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F7A4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COMPUTER VISION SEMINAR · 2026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22960" y="1737360"/>
            <a:ext cx="68580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4800"/>
              </a:lnSpc>
              <a:buNone/>
            </a:pPr>
            <a:r>
              <a:rPr lang="en-US" sz="4000" b="1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IntentCard
</a:t>
            </a:r>
            <a:pPr algn="l" indent="0" marL="0">
              <a:lnSpc>
                <a:spcPts val="4800"/>
              </a:lnSpc>
              <a:buNone/>
            </a:pPr>
            <a:r>
              <a:rPr lang="en-US" sz="4000" b="1" dirty="0">
                <a:solidFill>
                  <a:srgbClr val="FF7A4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디자인 의도를 통제 가능하게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822960" y="3611880"/>
            <a:ext cx="67665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9A9A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비전공자(소상공인)가 강력한 이미지 생성 모델을 자기 의도대로 통제해 카드뉴스를 만들도록 돕는 RAG + 멀티에이전트 컴퓨터 비전 시스템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822960" y="4709160"/>
            <a:ext cx="2011680" cy="420624"/>
          </a:xfrm>
          <a:prstGeom prst="roundRect">
            <a:avLst>
              <a:gd name="adj" fmla="val 50000"/>
            </a:avLst>
          </a:prstGeom>
          <a:solidFill>
            <a:srgbClr val="181822"/>
          </a:solidFill>
          <a:ln w="12700">
            <a:solidFill>
              <a:srgbClr val="2C2C3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2960" y="4709160"/>
            <a:ext cx="20116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B0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RAG 검색기반 생성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2999232" y="4709160"/>
            <a:ext cx="2450592" cy="420624"/>
          </a:xfrm>
          <a:prstGeom prst="roundRect">
            <a:avLst>
              <a:gd name="adj" fmla="val 50000"/>
            </a:avLst>
          </a:prstGeom>
          <a:solidFill>
            <a:srgbClr val="181822"/>
          </a:solidFill>
          <a:ln w="12700">
            <a:solidFill>
              <a:srgbClr val="2C2C3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2999232" y="4709160"/>
            <a:ext cx="245059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B0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Diffusion 배경생성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22960" y="5294376"/>
            <a:ext cx="2157984" cy="420624"/>
          </a:xfrm>
          <a:prstGeom prst="roundRect">
            <a:avLst>
              <a:gd name="adj" fmla="val 50000"/>
            </a:avLst>
          </a:prstGeom>
          <a:solidFill>
            <a:srgbClr val="181822"/>
          </a:solidFill>
          <a:ln w="12700">
            <a:solidFill>
              <a:srgbClr val="2C2C3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2960" y="5294376"/>
            <a:ext cx="21579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B0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Vision 비평 루프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3145536" y="5294376"/>
            <a:ext cx="1719072" cy="420624"/>
          </a:xfrm>
          <a:prstGeom prst="roundRect">
            <a:avLst>
              <a:gd name="adj" fmla="val 50000"/>
            </a:avLst>
          </a:prstGeom>
          <a:solidFill>
            <a:srgbClr val="181822"/>
          </a:solidFill>
          <a:ln w="12700">
            <a:solidFill>
              <a:srgbClr val="2C2C3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145536" y="5294376"/>
            <a:ext cx="171907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B0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LangGraph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029200" y="5294376"/>
            <a:ext cx="2157984" cy="420624"/>
          </a:xfrm>
          <a:prstGeom prst="roundRect">
            <a:avLst>
              <a:gd name="adj" fmla="val 50000"/>
            </a:avLst>
          </a:prstGeom>
          <a:solidFill>
            <a:srgbClr val="181822"/>
          </a:solidFill>
          <a:ln w="12700">
            <a:solidFill>
              <a:srgbClr val="2C2C3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029200" y="5294376"/>
            <a:ext cx="21579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B0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CLIP · ΔE 평가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22960" y="5989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9A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Hyunmin Han · 기획 · 풀스택 · 연구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400800" y="598932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E6E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705432" cy="82296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3" name="Shape 1"/>
          <p:cNvSpPr/>
          <p:nvPr/>
        </p:nvSpPr>
        <p:spPr>
          <a:xfrm>
            <a:off x="6705432" y="0"/>
            <a:ext cx="5486263" cy="82296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6692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7A4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POSITIONING · 한 줄 요지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932688"/>
            <a:ext cx="10515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3000" b="1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더 강한 모델이 아니라, </a:t>
            </a:r>
            <a:pPr algn="l" indent="0" marL="0">
              <a:lnSpc>
                <a:spcPts val="3600"/>
              </a:lnSpc>
              <a:buNone/>
            </a:pPr>
            <a:r>
              <a:rPr lang="en-US" sz="3000" b="1" dirty="0">
                <a:solidFill>
                  <a:srgbClr val="FF7A4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강한 모델을 ‘통제’</a:t>
            </a:r>
            <a:pPr algn="l" indent="0" marL="0">
              <a:lnSpc>
                <a:spcPts val="3600"/>
              </a:lnSpc>
              <a:buNone/>
            </a:pPr>
            <a:r>
              <a:rPr lang="en-US" sz="3000" b="1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하는 문제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22960" y="2286000"/>
            <a:ext cx="5120640" cy="3200400"/>
          </a:xfrm>
          <a:prstGeom prst="roundRect">
            <a:avLst>
              <a:gd name="adj" fmla="val 3429"/>
            </a:avLst>
          </a:prstGeom>
          <a:solidFill>
            <a:srgbClr val="181822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" y="24688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처음 가설 (틀린 프레임)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97280" y="2926080"/>
            <a:ext cx="457200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b="1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“모델이 한글/이미지를 못 만든다”
</a:t>
            </a:r>
            <a:pPr indent="0" marL="0">
              <a:lnSpc>
                <a:spcPts val="2200"/>
              </a:lnSpc>
              <a:buNone/>
            </a:pP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9A9A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GPT-4.1-mini 파인튜닝 시도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9A9A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그래도 GPT-5.5 플래그십을 능가 못함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9A9A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모델 성능 경쟁은 우리가 이길 싸움이 아님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0" y="2286000"/>
            <a:ext cx="4937760" cy="3200400"/>
          </a:xfrm>
          <a:prstGeom prst="roundRect">
            <a:avLst>
              <a:gd name="adj" fmla="val 4000"/>
            </a:avLst>
          </a:prstGeom>
          <a:solidFill>
            <a:srgbClr val="1C1C28"/>
          </a:solidFill>
          <a:ln w="19050">
            <a:solidFill>
              <a:srgbClr val="5AD19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675120" y="24688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AD1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재정의한 진짜 문제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675120" y="2926080"/>
            <a:ext cx="448056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b="1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gpt-image-2는 이미 잘 만든다.
진짜 문제는 ‘통제 가능성’
</a:t>
            </a:r>
            <a:pPr indent="0" marL="0">
              <a:lnSpc>
                <a:spcPts val="2200"/>
              </a:lnSpc>
              <a:buNone/>
            </a:pP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FFB0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(i) 브랜드 폰트·자간·색을 강제 못함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FFB0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(ii) 생성 후 텍스트 편집 불가(래스터)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FFB0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(iii) 같은 입력에도 결과가 달라 신뢰성↓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22960" y="562356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A9A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경쟁 프레임을 ‘품질(quality)’이 아니라 ‘통제(control)’로 고정한다.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22960" y="6327648"/>
            <a:ext cx="320040" cy="4572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E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IntentCard · Computer Vision Seminar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9509760" y="64008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705432" cy="82296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3" name="Shape 1"/>
          <p:cNvSpPr/>
          <p:nvPr/>
        </p:nvSpPr>
        <p:spPr>
          <a:xfrm>
            <a:off x="6705432" y="0"/>
            <a:ext cx="5486263" cy="82296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6692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7A4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USER RESEARCH · 수요 검증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932688"/>
            <a:ext cx="10515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3000" b="1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“디자이너 없이 매주 콘텐츠를 올려야 하는” </a:t>
            </a:r>
            <a:pPr algn="l" indent="0" marL="0">
              <a:lnSpc>
                <a:spcPts val="3600"/>
              </a:lnSpc>
              <a:buNone/>
            </a:pPr>
            <a:r>
              <a:rPr lang="en-US" sz="3000" b="1" dirty="0">
                <a:solidFill>
                  <a:srgbClr val="FF7A4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실수요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22960" y="2468880"/>
            <a:ext cx="3383280" cy="1783080"/>
          </a:xfrm>
          <a:prstGeom prst="roundRect">
            <a:avLst>
              <a:gd name="adj" fmla="val 6154"/>
            </a:avLst>
          </a:prstGeom>
          <a:solidFill>
            <a:srgbClr val="181822"/>
          </a:solidFill>
          <a:ln w="12700">
            <a:solidFill>
              <a:srgbClr val="2C2C3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" y="2651760"/>
            <a:ext cx="28346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7A4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13만+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097280" y="3474720"/>
            <a:ext cx="2834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A9A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Threads 조회수로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A9A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검증한 시장 반응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434840" y="2468880"/>
            <a:ext cx="3383280" cy="1783080"/>
          </a:xfrm>
          <a:prstGeom prst="roundRect">
            <a:avLst>
              <a:gd name="adj" fmla="val 6154"/>
            </a:avLst>
          </a:prstGeom>
          <a:solidFill>
            <a:srgbClr val="181822"/>
          </a:solidFill>
          <a:ln w="12700">
            <a:solidFill>
              <a:srgbClr val="2C2C3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09160" y="2651760"/>
            <a:ext cx="28346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7A4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5곳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4709160" y="3474720"/>
            <a:ext cx="2834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A9A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가게 3 · 보험 영업 2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A9A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소상공인 협업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46720" y="2468880"/>
            <a:ext cx="3383280" cy="1783080"/>
          </a:xfrm>
          <a:prstGeom prst="roundRect">
            <a:avLst>
              <a:gd name="adj" fmla="val 6154"/>
            </a:avLst>
          </a:prstGeom>
          <a:solidFill>
            <a:srgbClr val="181822"/>
          </a:solidFill>
          <a:ln w="12700">
            <a:solidFill>
              <a:srgbClr val="2C2C3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21040" y="2651760"/>
            <a:ext cx="28346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7A4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45+8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8321040" y="3474720"/>
            <a:ext cx="2834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A9A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크롤링 38 + 협업/생성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A9A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 카드뉴스 데이터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22960" y="45720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B0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관찰된 핵심 통점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22960" y="4983480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lnSpc>
                <a:spcPct val="140000"/>
              </a:lnSpc>
              <a:buSzPct val="100000"/>
              <a:buChar char="▸"/>
            </a:pPr>
            <a:r>
              <a:rPr lang="en-US" sz="1300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“신뢰감 있게 · 프리미엄하게 · 20대 타깃” — 의도는 분명한데 손으로 못 옮김</a:t>
            </a:r>
            <a:endParaRPr lang="en-US" sz="1300" dirty="0"/>
          </a:p>
          <a:p>
            <a:pPr marL="203200" indent="-203200">
              <a:lnSpc>
                <a:spcPct val="140000"/>
              </a:lnSpc>
              <a:buSzPct val="100000"/>
              <a:buChar char="▸"/>
            </a:pPr>
            <a:r>
              <a:rPr lang="en-US" sz="1300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외주·툴 학습 비용이 부담되는 1인 운영 단위가 반복 제작에 막힘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822960" y="6327648"/>
            <a:ext cx="320040" cy="4572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E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IntentCard · Computer Vision Seminar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9509760" y="64008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705432" cy="82296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3" name="Shape 1"/>
          <p:cNvSpPr/>
          <p:nvPr/>
        </p:nvSpPr>
        <p:spPr>
          <a:xfrm>
            <a:off x="6705432" y="0"/>
            <a:ext cx="5486263" cy="82296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6692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7A4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RELATED WORK · 컴퓨터 비전 선행연구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932688"/>
            <a:ext cx="10515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2600" b="1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레이아웃 생성 · 이미지 내 텍스트 · 검색기반 생성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822960" y="2331720"/>
            <a:ext cx="5120640" cy="3611880"/>
          </a:xfrm>
          <a:prstGeom prst="roundRect">
            <a:avLst>
              <a:gd name="adj" fmla="val 3038"/>
            </a:avLst>
          </a:prstGeom>
          <a:solidFill>
            <a:srgbClr val="181822"/>
          </a:solidFill>
          <a:ln w="12700">
            <a:solidFill>
              <a:srgbClr val="FF7A4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" y="2487168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7A4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콘텐츠 인지 레이아웃 생성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97280" y="29718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5F5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PosterLayout (CVPR’23)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097280" y="3264408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9A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content-aware 레이아웃 벤치마크·지표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97280" y="3685032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5F5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RALF (CVPR’24)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097280" y="39776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9A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Retrieval-Augmented Layout — 우리 RAG의 학술 근거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097280" y="4398264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5F5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CGL / PDA-GAN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1097280" y="4690872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9A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image-aware 배치 (소실영역 회피)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097280" y="5111496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5F5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SEGA (ICCV’25)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1097280" y="5404104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9A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최신 content-aware 레이아웃 baseline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217920" y="2331720"/>
            <a:ext cx="5120640" cy="3611880"/>
          </a:xfrm>
          <a:prstGeom prst="roundRect">
            <a:avLst>
              <a:gd name="adj" fmla="val 3038"/>
            </a:avLst>
          </a:prstGeom>
          <a:solidFill>
            <a:srgbClr val="181822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92240" y="2487168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5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이미지 내 텍스트 렌더링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492240" y="29718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5F5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GlyphControl / TextDiffuser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492240" y="3264408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9A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확산모델 글자 렌더 제어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492240" y="3685032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5F5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AnyText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492240" y="39776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9A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다국어 텍스트 생성/편집 (한글 baseline)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492240" y="4398264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5F5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DSF (Design Sequence)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492240" y="4690872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9A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logo→text→underlay 디자인 순서 모델링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492240" y="5111496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5F5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CLIP (ICML’21)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492240" y="5404104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9A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임베딩 검색 + CLIPScore 평가 근거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22960" y="603504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E6E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원칙: 1차 논문만 인용 — 온라인 강의는 스킬 습득용, 인용 소스 아님.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822960" y="6327648"/>
            <a:ext cx="320040" cy="4572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28" name="Text 26"/>
          <p:cNvSpPr/>
          <p:nvPr/>
        </p:nvSpPr>
        <p:spPr>
          <a:xfrm>
            <a:off x="82296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E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IntentCard · Computer Vision Seminar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9509760" y="64008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705432" cy="82296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3" name="Shape 1"/>
          <p:cNvSpPr/>
          <p:nvPr/>
        </p:nvSpPr>
        <p:spPr>
          <a:xfrm>
            <a:off x="6705432" y="0"/>
            <a:ext cx="5486263" cy="82296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6692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7A4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DATASET · 카드뉴스 데이터 구축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932688"/>
            <a:ext cx="10515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3000" b="1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 인스타 디자인을 임베딩한 </a:t>
            </a:r>
            <a:pPr algn="l" indent="0" marL="0">
              <a:lnSpc>
                <a:spcPts val="3600"/>
              </a:lnSpc>
              <a:buNone/>
            </a:pPr>
            <a:r>
              <a:rPr lang="en-US" sz="3000" b="1" dirty="0">
                <a:solidFill>
                  <a:srgbClr val="FF7A4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‘디자인 DNA’ 코퍼스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22960" y="2468880"/>
            <a:ext cx="6309360" cy="640080"/>
          </a:xfrm>
          <a:prstGeom prst="roundRect">
            <a:avLst>
              <a:gd name="adj" fmla="val 17143"/>
            </a:avLst>
          </a:prstGeom>
          <a:solidFill>
            <a:srgbClr val="181822"/>
          </a:solidFill>
          <a:ln w="12700">
            <a:solidFill>
              <a:srgbClr val="2C2C3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" y="246888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B0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크롤링 38개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291840" y="246888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9A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@sosohanscenery 등 실제 운영 계정의 카드뉴스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822960" y="3218688"/>
            <a:ext cx="6309360" cy="640080"/>
          </a:xfrm>
          <a:prstGeom prst="roundRect">
            <a:avLst>
              <a:gd name="adj" fmla="val 17143"/>
            </a:avLst>
          </a:prstGeom>
          <a:solidFill>
            <a:srgbClr val="181822"/>
          </a:solidFill>
          <a:ln w="12700">
            <a:solidFill>
              <a:srgbClr val="2C2C3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3218688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B0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협업 수집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291840" y="3218688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9A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가게 3곳 · 보험 영업 2명 등 소상공인 실물 전달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22960" y="3968496"/>
            <a:ext cx="6309360" cy="640080"/>
          </a:xfrm>
          <a:prstGeom prst="roundRect">
            <a:avLst>
              <a:gd name="adj" fmla="val 17143"/>
            </a:avLst>
          </a:prstGeom>
          <a:solidFill>
            <a:srgbClr val="181822"/>
          </a:solidFill>
          <a:ln w="12700">
            <a:solidFill>
              <a:srgbClr val="2C2C3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97280" y="3968496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B0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GPT 생성 8개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291840" y="3968496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9A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ChatGPT 기반 카드뉴스 시드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22960" y="4718304"/>
            <a:ext cx="6309360" cy="640080"/>
          </a:xfrm>
          <a:prstGeom prst="roundRect">
            <a:avLst>
              <a:gd name="adj" fmla="val 17143"/>
            </a:avLst>
          </a:prstGeom>
          <a:solidFill>
            <a:srgbClr val="181822"/>
          </a:solidFill>
          <a:ln w="12700">
            <a:solidFill>
              <a:srgbClr val="2C2C3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97280" y="4718304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B0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45개 임베딩 인덱스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291840" y="4718304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9A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text-embedding-3-large → pgvector / numpy 검색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7406640" y="233172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B0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샘플 레퍼런스</a:t>
            </a:r>
            <a:endParaRPr lang="en-US" sz="1200" dirty="0"/>
          </a:p>
        </p:txBody>
      </p:sp>
      <p:pic>
        <p:nvPicPr>
          <p:cNvPr id="19" name="Image 0" descr="/home/user/carnews-insta/public/saved-refs/saved_C-QCe6gvsw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06640" y="2697480"/>
            <a:ext cx="1234440" cy="1325880"/>
          </a:xfrm>
          <a:prstGeom prst="rect">
            <a:avLst/>
          </a:prstGeom>
        </p:spPr>
      </p:pic>
      <p:pic>
        <p:nvPicPr>
          <p:cNvPr id="20" name="Image 1" descr="/home/user/carnews-insta/public/saved-refs/saved_C-Ul3yQpgWw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0" y="2697480"/>
            <a:ext cx="1234440" cy="1325880"/>
          </a:xfrm>
          <a:prstGeom prst="rect">
            <a:avLst/>
          </a:prstGeom>
        </p:spPr>
      </p:pic>
      <p:pic>
        <p:nvPicPr>
          <p:cNvPr id="21" name="Image 2" descr="/home/user/carnews-insta/public/saved-refs/saved_DCGoo8mSr0M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9840" y="2697480"/>
            <a:ext cx="1234440" cy="1325880"/>
          </a:xfrm>
          <a:prstGeom prst="rect">
            <a:avLst/>
          </a:prstGeom>
        </p:spPr>
      </p:pic>
      <p:pic>
        <p:nvPicPr>
          <p:cNvPr id="22" name="Image 3" descr="/home/user/carnews-insta/public/saved-refs/saved_DJbOPtCPss_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06640" y="4160520"/>
            <a:ext cx="1234440" cy="1325880"/>
          </a:xfrm>
          <a:prstGeom prst="rect">
            <a:avLst/>
          </a:prstGeom>
        </p:spPr>
      </p:pic>
      <p:pic>
        <p:nvPicPr>
          <p:cNvPr id="23" name="Image 4" descr="/home/user/carnews-insta/public/saved-refs/saved_DMcfFaNz18t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8240" y="4160520"/>
            <a:ext cx="1234440" cy="1325880"/>
          </a:xfrm>
          <a:prstGeom prst="rect">
            <a:avLst/>
          </a:prstGeom>
        </p:spPr>
      </p:pic>
      <p:pic>
        <p:nvPicPr>
          <p:cNvPr id="24" name="Image 5" descr="/home/user/carnews-insta/public/saved-refs/saved_DOiPIpEgay7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49840" y="4160520"/>
            <a:ext cx="1234440" cy="132588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822960" y="571500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6E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재현성 원칙: DATABASE_URL 비운 로컬 numpy 모드 + 고정 seed로 N회 반복 측정.</a:t>
            </a:r>
            <a:endParaRPr lang="en-US" sz="1100" dirty="0"/>
          </a:p>
        </p:txBody>
      </p:sp>
      <p:sp>
        <p:nvSpPr>
          <p:cNvPr id="26" name="Shape 18"/>
          <p:cNvSpPr/>
          <p:nvPr/>
        </p:nvSpPr>
        <p:spPr>
          <a:xfrm>
            <a:off x="822960" y="6327648"/>
            <a:ext cx="320040" cy="4572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27" name="Text 19"/>
          <p:cNvSpPr/>
          <p:nvPr/>
        </p:nvSpPr>
        <p:spPr>
          <a:xfrm>
            <a:off x="82296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E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IntentCard · Computer Vision Seminar</a:t>
            </a:r>
            <a:endParaRPr lang="en-US" sz="900" dirty="0"/>
          </a:p>
        </p:txBody>
      </p:sp>
      <p:sp>
        <p:nvSpPr>
          <p:cNvPr id="28" name="Text 20"/>
          <p:cNvSpPr/>
          <p:nvPr/>
        </p:nvSpPr>
        <p:spPr>
          <a:xfrm>
            <a:off x="9509760" y="64008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705432" cy="82296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3" name="Shape 1"/>
          <p:cNvSpPr/>
          <p:nvPr/>
        </p:nvSpPr>
        <p:spPr>
          <a:xfrm>
            <a:off x="6705432" y="0"/>
            <a:ext cx="5486263" cy="82296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6692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7A4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PROMPT DESIGN · 합성 통제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932688"/>
            <a:ext cx="10515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2600" b="1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Image1=디자인 고정, Image2=제품만 — </a:t>
            </a:r>
            <a:pPr algn="l" indent="0" marL="0">
              <a:lnSpc>
                <a:spcPts val="3600"/>
              </a:lnSpc>
              <a:buNone/>
            </a:pPr>
            <a:r>
              <a:rPr lang="en-US" sz="2600" b="1" dirty="0">
                <a:solidFill>
                  <a:srgbClr val="FF7A4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구조를 강제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822960" y="2331720"/>
            <a:ext cx="5120640" cy="3657600"/>
          </a:xfrm>
          <a:prstGeom prst="roundRect">
            <a:avLst>
              <a:gd name="adj" fmla="val 3000"/>
            </a:avLst>
          </a:prstGeom>
          <a:solidFill>
            <a:srgbClr val="181822"/>
          </a:solidFill>
          <a:ln w="12700">
            <a:solidFill>
              <a:srgbClr val="FF7A4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" y="2487168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7A4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Image 1 — 디자인을 통제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43000" y="2926080"/>
            <a:ext cx="457200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lnSpc>
                <a:spcPct val="125000"/>
              </a:lnSpc>
              <a:buSzPct val="100000"/>
              <a:buChar char="●"/>
            </a:pPr>
            <a:r>
              <a:rPr lang="en-US" sz="1300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배경</a:t>
            </a:r>
            <a:endParaRPr lang="en-US" sz="1300" dirty="0"/>
          </a:p>
          <a:p>
            <a:pPr marL="177800" indent="-177800">
              <a:lnSpc>
                <a:spcPct val="125000"/>
              </a:lnSpc>
              <a:buSzPct val="100000"/>
              <a:buChar char="●"/>
            </a:pPr>
            <a:r>
              <a:rPr lang="en-US" sz="1300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레이아웃</a:t>
            </a:r>
            <a:endParaRPr lang="en-US" sz="1300" dirty="0"/>
          </a:p>
          <a:p>
            <a:pPr marL="177800" indent="-177800">
              <a:lnSpc>
                <a:spcPct val="125000"/>
              </a:lnSpc>
              <a:buSzPct val="100000"/>
              <a:buChar char="●"/>
            </a:pPr>
            <a:r>
              <a:rPr lang="en-US" sz="1300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타이포 배치</a:t>
            </a:r>
            <a:endParaRPr lang="en-US" sz="1300" dirty="0"/>
          </a:p>
          <a:p>
            <a:pPr marL="177800" indent="-177800">
              <a:lnSpc>
                <a:spcPct val="125000"/>
              </a:lnSpc>
              <a:buSzPct val="100000"/>
              <a:buChar char="●"/>
            </a:pPr>
            <a:r>
              <a:rPr lang="en-US" sz="1300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그래픽 요소</a:t>
            </a:r>
            <a:endParaRPr lang="en-US" sz="1300" dirty="0"/>
          </a:p>
          <a:p>
            <a:pPr marL="177800" indent="-177800">
              <a:lnSpc>
                <a:spcPct val="125000"/>
              </a:lnSpc>
              <a:buSzPct val="100000"/>
              <a:buChar char="●"/>
            </a:pPr>
            <a:r>
              <a:rPr lang="en-US" sz="1300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프로모션 배지</a:t>
            </a:r>
            <a:endParaRPr lang="en-US" sz="1300" dirty="0"/>
          </a:p>
          <a:p>
            <a:pPr marL="177800" indent="-177800">
              <a:lnSpc>
                <a:spcPct val="125000"/>
              </a:lnSpc>
              <a:buSzPct val="100000"/>
              <a:buChar char="●"/>
            </a:pPr>
            <a:r>
              <a:rPr lang="en-US" sz="1300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색·조명·구도</a:t>
            </a:r>
            <a:endParaRPr lang="en-US" sz="1300" dirty="0"/>
          </a:p>
          <a:p>
            <a:pPr marL="177800" indent="-177800">
              <a:lnSpc>
                <a:spcPct val="125000"/>
              </a:lnSpc>
              <a:buSzPct val="100000"/>
              <a:buChar char="●"/>
            </a:pPr>
            <a:r>
              <a:rPr lang="en-US" sz="1300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카메라 앵글·광고 스타일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0" y="2331720"/>
            <a:ext cx="4937760" cy="3657600"/>
          </a:xfrm>
          <a:prstGeom prst="roundRect">
            <a:avLst>
              <a:gd name="adj" fmla="val 3000"/>
            </a:avLst>
          </a:prstGeom>
          <a:solidFill>
            <a:srgbClr val="181822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675120" y="2487168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Image 2 — 제품만 (그 외 전부 금지)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720840" y="2926080"/>
            <a:ext cx="448056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lnSpc>
                <a:spcPct val="130000"/>
              </a:lnSpc>
              <a:buSzPct val="100000"/>
              <a:buChar char="✕"/>
            </a:pPr>
            <a:r>
              <a:rPr lang="en-US" sz="1300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배경 완전 제거 → 제품만 추출·합성</a:t>
            </a:r>
            <a:endParaRPr lang="en-US" sz="1300" dirty="0"/>
          </a:p>
          <a:p>
            <a:pPr marL="177800" indent="-177800">
              <a:lnSpc>
                <a:spcPct val="130000"/>
              </a:lnSpc>
              <a:buSzPct val="100000"/>
              <a:buChar char="✕"/>
            </a:pPr>
            <a:r>
              <a:rPr lang="en-US" sz="1300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새 광고 디자인 생성 금지</a:t>
            </a:r>
            <a:endParaRPr lang="en-US" sz="1300" dirty="0"/>
          </a:p>
          <a:p>
            <a:pPr marL="177800" indent="-177800">
              <a:lnSpc>
                <a:spcPct val="130000"/>
              </a:lnSpc>
              <a:buSzPct val="100000"/>
              <a:buChar char="✕"/>
            </a:pPr>
            <a:r>
              <a:rPr lang="en-US" sz="1300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레이아웃·배경 재설계 금지</a:t>
            </a:r>
            <a:endParaRPr lang="en-US" sz="1300" dirty="0"/>
          </a:p>
          <a:p>
            <a:pPr marL="177800" indent="-177800">
              <a:lnSpc>
                <a:spcPct val="130000"/>
              </a:lnSpc>
              <a:buSzPct val="100000"/>
              <a:buChar char="✕"/>
            </a:pPr>
            <a:r>
              <a:rPr lang="en-US" sz="1300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타이포/배지 위치 변경 금지</a:t>
            </a:r>
            <a:endParaRPr lang="en-US" sz="1300" dirty="0"/>
          </a:p>
          <a:p>
            <a:pPr marL="177800" indent="-177800">
              <a:lnSpc>
                <a:spcPct val="130000"/>
              </a:lnSpc>
              <a:buSzPct val="100000"/>
              <a:buChar char="✕"/>
            </a:pPr>
            <a:r>
              <a:rPr lang="en-US" sz="1300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시각적 위계 변경 금지</a:t>
            </a:r>
            <a:endParaRPr lang="en-US" sz="1300" dirty="0"/>
          </a:p>
          <a:p>
            <a:pPr marL="177800" indent="-177800">
              <a:lnSpc>
                <a:spcPct val="130000"/>
              </a:lnSpc>
              <a:buSzPct val="100000"/>
              <a:buChar char="✕"/>
            </a:pPr>
            <a:r>
              <a:rPr lang="en-US" sz="1300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충돌 시 항상 Image 1을 따른다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22960" y="6327648"/>
            <a:ext cx="320040" cy="4572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E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IntentCard · Computer Vision Seminar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9509760" y="64008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705432" cy="82296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3" name="Shape 1"/>
          <p:cNvSpPr/>
          <p:nvPr/>
        </p:nvSpPr>
        <p:spPr>
          <a:xfrm>
            <a:off x="6705432" y="0"/>
            <a:ext cx="5486263" cy="82296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6692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7A4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CORE CV · 배경 생성 + 타이포 분리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932688"/>
            <a:ext cx="10515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2500" b="1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확산모델은 </a:t>
            </a:r>
            <a:pPr algn="l" indent="0" marL="0">
              <a:lnSpc>
                <a:spcPts val="3600"/>
              </a:lnSpc>
              <a:buNone/>
            </a:pPr>
            <a:r>
              <a:rPr lang="en-US" sz="2500" b="1" dirty="0">
                <a:solidFill>
                  <a:srgbClr val="FF7A4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글자 없는 배경</a:t>
            </a:r>
            <a:pPr algn="l" indent="0" marL="0">
              <a:lnSpc>
                <a:spcPts val="3600"/>
              </a:lnSpc>
              <a:buNone/>
            </a:pPr>
            <a:r>
              <a:rPr lang="en-US" sz="2500" b="1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만, 한글은 CSS로 오버레이</a:t>
            </a:r>
            <a:endParaRPr lang="en-US" sz="2500" dirty="0"/>
          </a:p>
        </p:txBody>
      </p:sp>
      <p:pic>
        <p:nvPicPr>
          <p:cNvPr id="6" name="Image 0" descr="/home/user/carnews-insta/scratch/diffusion_explain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0" y="2286000"/>
            <a:ext cx="4480560" cy="325526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0" y="5559552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E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확산모델 디노이징 과정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822960" y="2331720"/>
            <a:ext cx="576072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문제: 확산모델이 한글을 ‘구우면’ 헛글자(glyph 깨짐)
</a:t>
            </a:r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9A9A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GlyphControl/AnyText 계열도 한글 신뢰성 한계
</a:t>
            </a:r>
            <a:pPr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5AD1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해결(구조적 분리):
</a:t>
            </a:r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FFB0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1) gpt-image-2 → 텍스트 없는 배경만 생성
2) 한국어 카피는 브라우저 CSS 타이포로 오버레이
3) Fabric.js 캔버스로 사람이 정밀 편집
</a:t>
            </a:r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효과: 브랜드 색 0오차 · 즉시 편집 · 결정적 재현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822960" y="6327648"/>
            <a:ext cx="320040" cy="4572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10" name="Text 7"/>
          <p:cNvSpPr/>
          <p:nvPr/>
        </p:nvSpPr>
        <p:spPr>
          <a:xfrm>
            <a:off x="82296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E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IntentCard · Computer Vision Seminar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9509760" y="64008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705432" cy="82296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3" name="Shape 1"/>
          <p:cNvSpPr/>
          <p:nvPr/>
        </p:nvSpPr>
        <p:spPr>
          <a:xfrm>
            <a:off x="6705432" y="0"/>
            <a:ext cx="5486263" cy="82296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6692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7A4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ANALYSIS · 레이어 분리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932688"/>
            <a:ext cx="10515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3000" b="1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텍스트 / 배경 레이어를 </a:t>
            </a:r>
            <a:pPr algn="l" indent="0" marL="0">
              <a:lnSpc>
                <a:spcPts val="3600"/>
              </a:lnSpc>
              <a:buNone/>
            </a:pPr>
            <a:r>
              <a:rPr lang="en-US" sz="3000" b="1" dirty="0">
                <a:solidFill>
                  <a:srgbClr val="FF7A4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분해</a:t>
            </a:r>
            <a:pPr algn="l" indent="0" marL="0">
              <a:lnSpc>
                <a:spcPts val="3600"/>
              </a:lnSpc>
              <a:buNone/>
            </a:pPr>
            <a:r>
              <a:rPr lang="en-US" sz="3000" b="1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해 편집 가능하게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54584" y="2468880"/>
            <a:ext cx="2011680" cy="1737360"/>
          </a:xfrm>
          <a:prstGeom prst="roundRect">
            <a:avLst>
              <a:gd name="adj" fmla="val 6316"/>
            </a:avLst>
          </a:prstGeom>
          <a:solidFill>
            <a:srgbClr val="181822"/>
          </a:solidFill>
          <a:ln w="12700">
            <a:solidFill>
              <a:srgbClr val="2C2C3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54584" y="2615184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6E6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27736" y="2926080"/>
            <a:ext cx="1865376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생성된</a:t>
            </a:r>
            <a:endParaRPr lang="en-US" sz="125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카드뉴스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2529688" y="2468880"/>
            <a:ext cx="329184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7A4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2822296" y="2468880"/>
            <a:ext cx="2011680" cy="1737360"/>
          </a:xfrm>
          <a:prstGeom prst="roundRect">
            <a:avLst>
              <a:gd name="adj" fmla="val 6316"/>
            </a:avLst>
          </a:prstGeom>
          <a:solidFill>
            <a:srgbClr val="181822"/>
          </a:solidFill>
          <a:ln w="12700">
            <a:solidFill>
              <a:srgbClr val="2C2C3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822296" y="2615184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6E6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GPT-4.1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895448" y="2926080"/>
            <a:ext cx="1865376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초기 시도</a:t>
            </a:r>
            <a:endParaRPr lang="en-US" sz="125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(성능 한계)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797400" y="2468880"/>
            <a:ext cx="329184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7A4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5090008" y="2468880"/>
            <a:ext cx="2011680" cy="1737360"/>
          </a:xfrm>
          <a:prstGeom prst="roundRect">
            <a:avLst>
              <a:gd name="adj" fmla="val 6316"/>
            </a:avLst>
          </a:prstGeom>
          <a:solidFill>
            <a:srgbClr val="181822"/>
          </a:solidFill>
          <a:ln w="12700">
            <a:solidFill>
              <a:srgbClr val="2C2C3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90008" y="2615184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6E6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GPT-5.5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163160" y="2926080"/>
            <a:ext cx="1865376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이미지 분석</a:t>
            </a:r>
            <a:endParaRPr lang="en-US" sz="125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미지원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7065112" y="2468880"/>
            <a:ext cx="329184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7A4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7357720" y="2468880"/>
            <a:ext cx="2011680" cy="1737360"/>
          </a:xfrm>
          <a:prstGeom prst="roundRect">
            <a:avLst>
              <a:gd name="adj" fmla="val 6316"/>
            </a:avLst>
          </a:prstGeom>
          <a:solidFill>
            <a:srgbClr val="1C1C28"/>
          </a:solidFill>
          <a:ln w="19050">
            <a:solidFill>
              <a:srgbClr val="FF7A4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57720" y="2615184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7A4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UPSTAGE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430872" y="2926080"/>
            <a:ext cx="1865376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</a:t>
            </a:r>
            <a:endParaRPr lang="en-US" sz="125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Analyzer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9332824" y="2468880"/>
            <a:ext cx="329184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7A4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9625432" y="2468880"/>
            <a:ext cx="2011680" cy="1737360"/>
          </a:xfrm>
          <a:prstGeom prst="roundRect">
            <a:avLst>
              <a:gd name="adj" fmla="val 6316"/>
            </a:avLst>
          </a:prstGeom>
          <a:solidFill>
            <a:srgbClr val="181822"/>
          </a:solidFill>
          <a:ln w="12700">
            <a:solidFill>
              <a:srgbClr val="2C2C3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625432" y="2615184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6E6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OUTPUT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9698584" y="2926080"/>
            <a:ext cx="1865376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레이어 분리</a:t>
            </a:r>
            <a:endParaRPr lang="en-US" sz="125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편집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822960" y="457200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b="1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접근 변천: </a:t>
            </a:r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9A9A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gpt-4.1(레이어 인식 약함) → gpt-5.5(텍스트는 강하나 비전 분석 미제공) → </a:t>
            </a:r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FFB0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Upstage Layout Analyzer로 문서 레이아웃을 검출</a:t>
            </a:r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9A9A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해 텍스트/배경 박스를 구조화.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822960" y="562356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E6E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합성 결과를 ‘읽고’ 다시 편집 가능한 객체로 되돌리는 것이 CV 파트의 난제.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22960" y="6327648"/>
            <a:ext cx="320040" cy="4572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28" name="Text 26"/>
          <p:cNvSpPr/>
          <p:nvPr/>
        </p:nvSpPr>
        <p:spPr>
          <a:xfrm>
            <a:off x="82296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E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IntentCard · Computer Vision Seminar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9509760" y="64008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705432" cy="82296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3" name="Shape 1"/>
          <p:cNvSpPr/>
          <p:nvPr/>
        </p:nvSpPr>
        <p:spPr>
          <a:xfrm>
            <a:off x="6705432" y="0"/>
            <a:ext cx="5486263" cy="82296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6692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7A4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SYSTEM · RAG + 멀티에이전트 SELF-CORRECTION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932688"/>
            <a:ext cx="10515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2500" b="1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검색으로 근거 잡고, </a:t>
            </a:r>
            <a:pPr algn="l" indent="0" marL="0">
              <a:lnSpc>
                <a:spcPts val="3600"/>
              </a:lnSpc>
              <a:buNone/>
            </a:pPr>
            <a:r>
              <a:rPr lang="en-US" sz="2500" b="1" dirty="0">
                <a:solidFill>
                  <a:srgbClr val="FF7A4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비전 비평으로 스스로 고치는</a:t>
            </a:r>
            <a:pPr algn="l" indent="0" marL="0">
              <a:lnSpc>
                <a:spcPts val="3600"/>
              </a:lnSpc>
              <a:buNone/>
            </a:pPr>
            <a:r>
              <a:rPr lang="en-US" sz="2500" b="1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그래프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664312" y="2331720"/>
            <a:ext cx="2011680" cy="1645920"/>
          </a:xfrm>
          <a:prstGeom prst="roundRect">
            <a:avLst>
              <a:gd name="adj" fmla="val 6667"/>
            </a:avLst>
          </a:prstGeom>
          <a:solidFill>
            <a:srgbClr val="181822"/>
          </a:solidFill>
          <a:ln w="12700">
            <a:solidFill>
              <a:srgbClr val="2C2C3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64312" y="2478024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6E6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GPT-5.5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37464" y="2788920"/>
            <a:ext cx="1865376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planner</a:t>
            </a:r>
            <a:endParaRPr lang="en-US" sz="125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슬라이드 분해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2639416" y="2331720"/>
            <a:ext cx="2743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7A4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2877160" y="2331720"/>
            <a:ext cx="2011680" cy="1645920"/>
          </a:xfrm>
          <a:prstGeom prst="roundRect">
            <a:avLst>
              <a:gd name="adj" fmla="val 6667"/>
            </a:avLst>
          </a:prstGeom>
          <a:solidFill>
            <a:srgbClr val="1C1C28"/>
          </a:solidFill>
          <a:ln w="19050">
            <a:solidFill>
              <a:srgbClr val="FF7A4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877160" y="2478024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7A4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RAG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950312" y="2788920"/>
            <a:ext cx="1865376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retriever</a:t>
            </a:r>
            <a:endParaRPr lang="en-US" sz="125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유사 디자인 검색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852264" y="2331720"/>
            <a:ext cx="2743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7A4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5090008" y="2331720"/>
            <a:ext cx="2011680" cy="1645920"/>
          </a:xfrm>
          <a:prstGeom prst="roundRect">
            <a:avLst>
              <a:gd name="adj" fmla="val 6667"/>
            </a:avLst>
          </a:prstGeom>
          <a:solidFill>
            <a:srgbClr val="181822"/>
          </a:solidFill>
          <a:ln w="12700">
            <a:solidFill>
              <a:srgbClr val="2C2C3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90008" y="2478024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6E6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GPT-5.5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163160" y="2788920"/>
            <a:ext cx="1865376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copywriter</a:t>
            </a:r>
            <a:endParaRPr lang="en-US" sz="125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카피 생성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7065112" y="2331720"/>
            <a:ext cx="2743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7A4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7302856" y="2331720"/>
            <a:ext cx="2011680" cy="1645920"/>
          </a:xfrm>
          <a:prstGeom prst="roundRect">
            <a:avLst>
              <a:gd name="adj" fmla="val 6667"/>
            </a:avLst>
          </a:prstGeom>
          <a:solidFill>
            <a:srgbClr val="181822"/>
          </a:solidFill>
          <a:ln w="12700">
            <a:solidFill>
              <a:srgbClr val="2C2C3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02856" y="2478024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6E6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GPT-5.5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376008" y="2788920"/>
            <a:ext cx="1865376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designer</a:t>
            </a:r>
            <a:endParaRPr lang="en-US" sz="125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아트디렉션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9277960" y="2331720"/>
            <a:ext cx="2743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7A4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9515704" y="2331720"/>
            <a:ext cx="2011680" cy="1645920"/>
          </a:xfrm>
          <a:prstGeom prst="roundRect">
            <a:avLst>
              <a:gd name="adj" fmla="val 6667"/>
            </a:avLst>
          </a:prstGeom>
          <a:solidFill>
            <a:srgbClr val="181822"/>
          </a:solidFill>
          <a:ln w="12700">
            <a:solidFill>
              <a:srgbClr val="2C2C3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515704" y="2478024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6E6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GPT-IMAGE-2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9588856" y="2788920"/>
            <a:ext cx="1865376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image_gen</a:t>
            </a:r>
            <a:endParaRPr lang="en-US" sz="125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배경 렌더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822960" y="4297680"/>
            <a:ext cx="6766560" cy="1554480"/>
          </a:xfrm>
          <a:prstGeom prst="roundRect">
            <a:avLst>
              <a:gd name="adj" fmla="val 7059"/>
            </a:avLst>
          </a:prstGeom>
          <a:solidFill>
            <a:srgbClr val="1C1C28"/>
          </a:solidFill>
          <a:ln w="19050">
            <a:solidFill>
              <a:srgbClr val="A855F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97280" y="443484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5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자기수정 사이클 (LangGraph cycle)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097280" y="4800600"/>
            <a:ext cx="63093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art_director(GPT-5.2 vision)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A9A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가 가독성·대비·위계·한글 타이포·브랜드·아티팩트를 채점 → </a:t>
            </a:r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B0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reviser → designer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A9A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로 되돌아가 임계점수까지 재생성. 슬라이드는 Send API로 </a:t>
            </a:r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5AD1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fan-out 병렬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A9A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.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7772400" y="4297680"/>
            <a:ext cx="3566160" cy="1554480"/>
          </a:xfrm>
          <a:prstGeom prst="roundRect">
            <a:avLst>
              <a:gd name="adj" fmla="val 7059"/>
            </a:avLst>
          </a:prstGeom>
          <a:solidFill>
            <a:srgbClr val="181822"/>
          </a:solidFill>
          <a:ln w="12700">
            <a:solidFill>
              <a:srgbClr val="2C2C3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001000" y="443484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B0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단순 프롬프트 체인이 아닌가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001000" y="4800600"/>
            <a:ext cx="32004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사이클(피드백 루프)이 있음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실제 벡터검색으로 근거 grounding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비전 비평으로 품질을 ‘측정’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822960" y="6327648"/>
            <a:ext cx="320040" cy="4572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32" name="Text 30"/>
          <p:cNvSpPr/>
          <p:nvPr/>
        </p:nvSpPr>
        <p:spPr>
          <a:xfrm>
            <a:off x="82296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E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IntentCard · Computer Vision Seminar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9509760" y="64008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705432" cy="82296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3" name="Shape 1"/>
          <p:cNvSpPr/>
          <p:nvPr/>
        </p:nvSpPr>
        <p:spPr>
          <a:xfrm>
            <a:off x="6705432" y="0"/>
            <a:ext cx="5486263" cy="82296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6692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7A4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ARCHITECTURE · 2-서비스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932688"/>
            <a:ext cx="10515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3000" b="1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프레젠테이션과 AI 오케스트레이션의 </a:t>
            </a:r>
            <a:pPr algn="l" indent="0" marL="0">
              <a:lnSpc>
                <a:spcPts val="3600"/>
              </a:lnSpc>
              <a:buNone/>
            </a:pPr>
            <a:r>
              <a:rPr lang="en-US" sz="3000" b="1" dirty="0">
                <a:solidFill>
                  <a:srgbClr val="FF7A4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역할 분리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22960" y="2468880"/>
            <a:ext cx="4937760" cy="2377440"/>
          </a:xfrm>
          <a:prstGeom prst="roundRect">
            <a:avLst>
              <a:gd name="adj" fmla="val 4615"/>
            </a:avLst>
          </a:prstGeom>
          <a:solidFill>
            <a:srgbClr val="181822"/>
          </a:solidFill>
          <a:ln w="12700">
            <a:solidFill>
              <a:srgbClr val="2C2C3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" y="26517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7A4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Next.js 앱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143000" y="3108960"/>
            <a:ext cx="45720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lnSpc>
                <a:spcPct val="135000"/>
              </a:lnSpc>
              <a:buSzPct val="100000"/>
              <a:buChar char="▸"/>
            </a:pPr>
            <a:r>
              <a:rPr lang="en-US" sz="1300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UI · Auth · Prisma · DB</a:t>
            </a:r>
            <a:endParaRPr lang="en-US" sz="1300" dirty="0"/>
          </a:p>
          <a:p>
            <a:pPr marL="177800" indent="-177800">
              <a:lnSpc>
                <a:spcPct val="135000"/>
              </a:lnSpc>
              <a:buSzPct val="100000"/>
              <a:buChar char="▸"/>
            </a:pPr>
            <a:r>
              <a:rPr lang="en-US" sz="1300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Fabric.js 캔버스 렌더/편집</a:t>
            </a:r>
            <a:endParaRPr lang="en-US" sz="1300" dirty="0"/>
          </a:p>
          <a:p>
            <a:pPr marL="177800" indent="-177800">
              <a:lnSpc>
                <a:spcPct val="135000"/>
              </a:lnSpc>
              <a:buSzPct val="100000"/>
              <a:buChar char="▸"/>
            </a:pPr>
            <a:r>
              <a:rPr lang="en-US" sz="1300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SSE 패스스루(agent-generate)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0" y="2468880"/>
            <a:ext cx="4937760" cy="2377440"/>
          </a:xfrm>
          <a:prstGeom prst="roundRect">
            <a:avLst>
              <a:gd name="adj" fmla="val 4615"/>
            </a:avLst>
          </a:prstGeom>
          <a:solidFill>
            <a:srgbClr val="181822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675120" y="26517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85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agent-service (Python)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720840" y="3108960"/>
            <a:ext cx="45720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lnSpc>
                <a:spcPct val="135000"/>
              </a:lnSpc>
              <a:buSzPct val="100000"/>
              <a:buChar char="▸"/>
            </a:pPr>
            <a:r>
              <a:rPr lang="en-US" sz="1300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FastAPI + LangGraph StateGraph</a:t>
            </a:r>
            <a:endParaRPr lang="en-US" sz="1300" dirty="0"/>
          </a:p>
          <a:p>
            <a:pPr marL="177800" indent="-177800">
              <a:lnSpc>
                <a:spcPct val="135000"/>
              </a:lnSpc>
              <a:buSzPct val="100000"/>
              <a:buChar char="▸"/>
            </a:pPr>
            <a:r>
              <a:rPr lang="en-US" sz="1300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planner→retriever→…→art_director</a:t>
            </a:r>
            <a:endParaRPr lang="en-US" sz="1300" dirty="0"/>
          </a:p>
          <a:p>
            <a:pPr marL="177800" indent="-177800">
              <a:lnSpc>
                <a:spcPct val="135000"/>
              </a:lnSpc>
              <a:buSzPct val="100000"/>
              <a:buChar char="▸"/>
            </a:pPr>
            <a:r>
              <a:rPr lang="en-US" sz="1300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node-by-node 이벤트 스트리밍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22960" y="5029200"/>
            <a:ext cx="10515600" cy="868680"/>
          </a:xfrm>
          <a:prstGeom prst="roundRect">
            <a:avLst>
              <a:gd name="adj" fmla="val 10526"/>
            </a:avLst>
          </a:prstGeom>
          <a:solidFill>
            <a:srgbClr val="1C1C28"/>
          </a:solidFill>
          <a:ln w="12700">
            <a:solidFill>
              <a:srgbClr val="2C2C3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97280" y="5029200"/>
            <a:ext cx="100584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FFB0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공유 인프라  </a:t>
            </a:r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Postgres(Neon) · pgvector 인덱스 · gpt-image-2 / GPT-5.5 / GPT-5.2  </a:t>
            </a:r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9A9A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 모든 노드는 키 없이도 도는 결정적 폴백 보유(오프라인 데모/테스트).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22960" y="6327648"/>
            <a:ext cx="320040" cy="4572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E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IntentCard · Computer Vision Seminar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9509760" y="64008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E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705432" cy="82296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3" name="Shape 1"/>
          <p:cNvSpPr/>
          <p:nvPr/>
        </p:nvSpPr>
        <p:spPr>
          <a:xfrm>
            <a:off x="6705432" y="0"/>
            <a:ext cx="5486263" cy="82296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6692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7A4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EVALUATION · ‘눈으로 보던 것’을 자동화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932688"/>
            <a:ext cx="10515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2600" b="1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주관적 품질을 </a:t>
            </a:r>
            <a:pPr algn="l" indent="0" marL="0">
              <a:lnSpc>
                <a:spcPts val="3600"/>
              </a:lnSpc>
              <a:buNone/>
            </a:pPr>
            <a:r>
              <a:rPr lang="en-US" sz="2600" b="1" dirty="0">
                <a:solidFill>
                  <a:srgbClr val="FF7A4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측정 가능한 프록시</a:t>
            </a:r>
            <a:pPr algn="l" indent="0" marL="0">
              <a:lnSpc>
                <a:spcPts val="3600"/>
              </a:lnSpc>
              <a:buNone/>
            </a:pPr>
            <a:r>
              <a:rPr lang="en-US" sz="2600" b="1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로 분해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822960" y="2331720"/>
            <a:ext cx="10515600" cy="457200"/>
          </a:xfrm>
          <a:prstGeom prst="roundRect">
            <a:avLst>
              <a:gd name="adj" fmla="val 24000"/>
            </a:avLst>
          </a:prstGeom>
          <a:solidFill>
            <a:srgbClr val="181822"/>
          </a:solidFill>
          <a:ln w="12700">
            <a:solidFill>
              <a:srgbClr val="2C2C3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233172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 색 일치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3474720" y="2331720"/>
            <a:ext cx="6126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9A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CIEDE2000 ΔE (지정 HEX↔샘플색)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9738360" y="242316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5AD19A"/>
          </a:solidFill>
          <a:ln/>
        </p:spPr>
      </p:sp>
      <p:sp>
        <p:nvSpPr>
          <p:cNvPr id="10" name="Text 8"/>
          <p:cNvSpPr/>
          <p:nvPr/>
        </p:nvSpPr>
        <p:spPr>
          <a:xfrm>
            <a:off x="9738360" y="24231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E0E1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구현됨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822960" y="2880360"/>
            <a:ext cx="10515600" cy="457200"/>
          </a:xfrm>
          <a:prstGeom prst="roundRect">
            <a:avLst>
              <a:gd name="adj" fmla="val 24000"/>
            </a:avLst>
          </a:prstGeom>
          <a:solidFill>
            <a:srgbClr val="181822"/>
          </a:solidFill>
          <a:ln w="12700">
            <a:solidFill>
              <a:srgbClr val="2C2C3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51560" y="288036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재현성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474720" y="2880360"/>
            <a:ext cx="6126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9A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동일 입력 N회 렌더 픽셀 분산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9738360" y="297180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5AD19A"/>
          </a:solidFill>
          <a:ln/>
        </p:spPr>
      </p:sp>
      <p:sp>
        <p:nvSpPr>
          <p:cNvPr id="15" name="Text 13"/>
          <p:cNvSpPr/>
          <p:nvPr/>
        </p:nvSpPr>
        <p:spPr>
          <a:xfrm>
            <a:off x="9738360" y="29718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E0E1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구현됨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822960" y="3429000"/>
            <a:ext cx="10515600" cy="457200"/>
          </a:xfrm>
          <a:prstGeom prst="roundRect">
            <a:avLst>
              <a:gd name="adj" fmla="val 24000"/>
            </a:avLst>
          </a:prstGeom>
          <a:solidFill>
            <a:srgbClr val="181822"/>
          </a:solidFill>
          <a:ln w="12700">
            <a:solidFill>
              <a:srgbClr val="2C2C3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51560" y="342900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편집 비용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3474720" y="3429000"/>
            <a:ext cx="6126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9A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1글자 수정 시간·재생성 횟수 로그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738360" y="352044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5AD19A"/>
          </a:solidFill>
          <a:ln/>
        </p:spPr>
      </p:sp>
      <p:sp>
        <p:nvSpPr>
          <p:cNvPr id="20" name="Text 18"/>
          <p:cNvSpPr/>
          <p:nvPr/>
        </p:nvSpPr>
        <p:spPr>
          <a:xfrm>
            <a:off x="9738360" y="35204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E0E1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구현됨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822960" y="3977640"/>
            <a:ext cx="10515600" cy="457200"/>
          </a:xfrm>
          <a:prstGeom prst="roundRect">
            <a:avLst>
              <a:gd name="adj" fmla="val 24000"/>
            </a:avLst>
          </a:prstGeom>
          <a:solidFill>
            <a:srgbClr val="181822"/>
          </a:solidFill>
          <a:ln w="12700">
            <a:solidFill>
              <a:srgbClr val="2C2C3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51560" y="39776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텍스트 충실도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3474720" y="3977640"/>
            <a:ext cx="6126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9A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OCR로 헛글자 검출 + 의도 카피와 CER/WER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738360" y="4069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F7A45"/>
          </a:solidFill>
          <a:ln/>
        </p:spPr>
      </p:sp>
      <p:sp>
        <p:nvSpPr>
          <p:cNvPr id="25" name="Text 23"/>
          <p:cNvSpPr/>
          <p:nvPr/>
        </p:nvSpPr>
        <p:spPr>
          <a:xfrm>
            <a:off x="9738360" y="40690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E0E1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822960" y="4526280"/>
            <a:ext cx="10515600" cy="457200"/>
          </a:xfrm>
          <a:prstGeom prst="roundRect">
            <a:avLst>
              <a:gd name="adj" fmla="val 24000"/>
            </a:avLst>
          </a:prstGeom>
          <a:solidFill>
            <a:srgbClr val="181822"/>
          </a:solidFill>
          <a:ln w="12700">
            <a:solidFill>
              <a:srgbClr val="2C2C3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51560" y="452628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의도 정합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3474720" y="4526280"/>
            <a:ext cx="6126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9A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CLIPScore(의도텍스트 ↔ 결과 이미지)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9738360" y="461772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F7A45"/>
          </a:solidFill>
          <a:ln/>
        </p:spPr>
      </p:sp>
      <p:sp>
        <p:nvSpPr>
          <p:cNvPr id="30" name="Text 28"/>
          <p:cNvSpPr/>
          <p:nvPr/>
        </p:nvSpPr>
        <p:spPr>
          <a:xfrm>
            <a:off x="9738360" y="46177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E0E1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훅 준비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822960" y="5074920"/>
            <a:ext cx="10515600" cy="457200"/>
          </a:xfrm>
          <a:prstGeom prst="roundRect">
            <a:avLst>
              <a:gd name="adj" fmla="val 24000"/>
            </a:avLst>
          </a:prstGeom>
          <a:solidFill>
            <a:srgbClr val="181822"/>
          </a:solidFill>
          <a:ln w="12700">
            <a:solidFill>
              <a:srgbClr val="2C2C3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51560" y="507492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레이아웃 품질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3474720" y="5074920"/>
            <a:ext cx="6126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9A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PosterLayout 지표(overlap·정렬·소실영역)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9738360" y="516636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A855F7"/>
          </a:solidFill>
          <a:ln/>
        </p:spPr>
      </p:sp>
      <p:sp>
        <p:nvSpPr>
          <p:cNvPr id="35" name="Text 33"/>
          <p:cNvSpPr/>
          <p:nvPr/>
        </p:nvSpPr>
        <p:spPr>
          <a:xfrm>
            <a:off x="9738360" y="51663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E0E1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후보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822960" y="5623560"/>
            <a:ext cx="10515600" cy="457200"/>
          </a:xfrm>
          <a:prstGeom prst="roundRect">
            <a:avLst>
              <a:gd name="adj" fmla="val 24000"/>
            </a:avLst>
          </a:prstGeom>
          <a:solidFill>
            <a:srgbClr val="181822"/>
          </a:solidFill>
          <a:ln w="12700">
            <a:solidFill>
              <a:srgbClr val="2C2C3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051560" y="562356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미학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3474720" y="5623560"/>
            <a:ext cx="6126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9A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LLM-as-judge(art_director) ↔ 사람 평가 상관 검증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9738360" y="571500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F7A45"/>
          </a:solidFill>
          <a:ln/>
        </p:spPr>
      </p:sp>
      <p:sp>
        <p:nvSpPr>
          <p:cNvPr id="40" name="Text 38"/>
          <p:cNvSpPr/>
          <p:nvPr/>
        </p:nvSpPr>
        <p:spPr>
          <a:xfrm>
            <a:off x="9738360" y="57150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E0E1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822960" y="6199632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FF7A4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아이디어: </a:t>
            </a:r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비전 LLM 심사위원의 점수를 ‘사람 골드 라벨과의 상관계수’로 검증하면, 자동 점수가 사람 눈을 대체할 수 있음을 입증 — 그 심사위원을 그대로 self-correction 루프의 보상으로 재사용한다. (scripts/measure_control.py)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822960" y="6327648"/>
            <a:ext cx="320040" cy="4572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43" name="Text 41"/>
          <p:cNvSpPr/>
          <p:nvPr/>
        </p:nvSpPr>
        <p:spPr>
          <a:xfrm>
            <a:off x="82296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E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IntentCard · Computer Vision Seminar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9509760" y="64008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E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705432" cy="82296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3" name="Shape 1"/>
          <p:cNvSpPr/>
          <p:nvPr/>
        </p:nvSpPr>
        <p:spPr>
          <a:xfrm>
            <a:off x="6705432" y="0"/>
            <a:ext cx="5486263" cy="82296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6692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7A4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HUMAN-IN-THE-LOOP · 사람 평가를 성능으로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932688"/>
            <a:ext cx="10515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2500" b="1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사람의 별점이 </a:t>
            </a:r>
            <a:pPr algn="l" indent="0" marL="0">
              <a:lnSpc>
                <a:spcPts val="3600"/>
              </a:lnSpc>
              <a:buNone/>
            </a:pPr>
            <a:r>
              <a:rPr lang="en-US" sz="2500" b="1" dirty="0">
                <a:solidFill>
                  <a:srgbClr val="FF7A4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self-correction 루프</a:t>
            </a:r>
            <a:pPr algn="l" indent="0" marL="0">
              <a:lnSpc>
                <a:spcPts val="3600"/>
              </a:lnSpc>
              <a:buNone/>
            </a:pPr>
            <a:r>
              <a:rPr lang="en-US" sz="2500" b="1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를 돌린다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664312" y="2331720"/>
            <a:ext cx="2011680" cy="1645920"/>
          </a:xfrm>
          <a:prstGeom prst="roundRect">
            <a:avLst>
              <a:gd name="adj" fmla="val 6667"/>
            </a:avLst>
          </a:prstGeom>
          <a:solidFill>
            <a:srgbClr val="1C1C28"/>
          </a:solidFill>
          <a:ln w="19050">
            <a:solidFill>
              <a:srgbClr val="FF7A4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64312" y="2478024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7A4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HUMAN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37464" y="2788920"/>
            <a:ext cx="1865376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별점 + 코멘트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2639416" y="2331720"/>
            <a:ext cx="2743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7A4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2877160" y="2331720"/>
            <a:ext cx="2011680" cy="1645920"/>
          </a:xfrm>
          <a:prstGeom prst="roundRect">
            <a:avLst>
              <a:gd name="adj" fmla="val 6667"/>
            </a:avLst>
          </a:prstGeom>
          <a:solidFill>
            <a:srgbClr val="181822"/>
          </a:solidFill>
          <a:ln w="12700">
            <a:solidFill>
              <a:srgbClr val="2C2C3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877160" y="2478024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6E6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HUMAN_CRITIC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950312" y="2788920"/>
            <a:ext cx="1865376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critique로</a:t>
            </a:r>
            <a:endParaRPr lang="en-US" sz="125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변환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852264" y="2331720"/>
            <a:ext cx="2743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7A4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5090008" y="2331720"/>
            <a:ext cx="2011680" cy="1645920"/>
          </a:xfrm>
          <a:prstGeom prst="roundRect">
            <a:avLst>
              <a:gd name="adj" fmla="val 6667"/>
            </a:avLst>
          </a:prstGeom>
          <a:solidFill>
            <a:srgbClr val="181822"/>
          </a:solidFill>
          <a:ln w="12700">
            <a:solidFill>
              <a:srgbClr val="2C2C3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90008" y="2478024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6E6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REVISER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163160" y="2788920"/>
            <a:ext cx="1865376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수정 지시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7065112" y="2331720"/>
            <a:ext cx="2743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7A4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7302856" y="2331720"/>
            <a:ext cx="2011680" cy="1645920"/>
          </a:xfrm>
          <a:prstGeom prst="roundRect">
            <a:avLst>
              <a:gd name="adj" fmla="val 6667"/>
            </a:avLst>
          </a:prstGeom>
          <a:solidFill>
            <a:srgbClr val="181822"/>
          </a:solidFill>
          <a:ln w="12700">
            <a:solidFill>
              <a:srgbClr val="2C2C3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02856" y="2478024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6E6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DESIGNER→IMG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376008" y="2788920"/>
            <a:ext cx="1865376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재생성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9277960" y="2331720"/>
            <a:ext cx="2743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7A4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9515704" y="2331720"/>
            <a:ext cx="2011680" cy="1645920"/>
          </a:xfrm>
          <a:prstGeom prst="roundRect">
            <a:avLst>
              <a:gd name="adj" fmla="val 6667"/>
            </a:avLst>
          </a:prstGeom>
          <a:solidFill>
            <a:srgbClr val="181822"/>
          </a:solidFill>
          <a:ln w="12700">
            <a:solidFill>
              <a:srgbClr val="2C2C3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515704" y="2478024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6E6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ART_DIRECTOR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9588856" y="2788920"/>
            <a:ext cx="1865376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자동 재채점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822960" y="4251960"/>
            <a:ext cx="3383280" cy="1691640"/>
          </a:xfrm>
          <a:prstGeom prst="roundRect">
            <a:avLst>
              <a:gd name="adj" fmla="val 6486"/>
            </a:avLst>
          </a:prstGeom>
          <a:solidFill>
            <a:srgbClr val="181822"/>
          </a:solidFill>
          <a:ln w="12700">
            <a:solidFill>
              <a:srgbClr val="5AD19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97280" y="438912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D1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 즉시 반영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097280" y="4800600"/>
            <a:ext cx="28346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52400" indent="-152400">
              <a:lnSpc>
                <a:spcPct val="130000"/>
              </a:lnSpc>
              <a:buSzPct val="100000"/>
              <a:buChar char="▸"/>
            </a:pPr>
            <a:r>
              <a:rPr lang="en-US" sz="1100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POST /revise → 그 카드만 재생성</a:t>
            </a:r>
            <a:endParaRPr lang="en-US" sz="1100" dirty="0"/>
          </a:p>
          <a:p>
            <a:pPr marL="152400" indent="-152400">
              <a:lnSpc>
                <a:spcPct val="130000"/>
              </a:lnSpc>
              <a:buSzPct val="100000"/>
              <a:buChar char="▸"/>
            </a:pPr>
            <a:r>
              <a:rPr lang="en-US" sz="1100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auto_score before→after 노출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434840" y="4251960"/>
            <a:ext cx="3383280" cy="1691640"/>
          </a:xfrm>
          <a:prstGeom prst="roundRect">
            <a:avLst>
              <a:gd name="adj" fmla="val 6486"/>
            </a:avLst>
          </a:prstGeom>
          <a:solidFill>
            <a:srgbClr val="181822"/>
          </a:solidFill>
          <a:ln w="12700">
            <a:solidFill>
              <a:srgbClr val="FF7A4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09160" y="438912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7A4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② 수집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709160" y="4800600"/>
            <a:ext cx="28346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52400" indent="-152400">
              <a:lnSpc>
                <a:spcPct val="130000"/>
              </a:lnSpc>
              <a:buSzPct val="100000"/>
              <a:buChar char="▸"/>
            </a:pPr>
            <a:r>
              <a:rPr lang="en-US" sz="1100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feedback_store JSONL (DB 불필요)</a:t>
            </a:r>
            <a:endParaRPr lang="en-US" sz="1100" dirty="0"/>
          </a:p>
          <a:p>
            <a:pPr marL="152400" indent="-152400">
              <a:lnSpc>
                <a:spcPct val="130000"/>
              </a:lnSpc>
              <a:buSzPct val="100000"/>
              <a:buChar char="▸"/>
            </a:pPr>
            <a:r>
              <a:rPr lang="en-US" sz="1100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편집비용·선호 데이터 적재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8046720" y="4251960"/>
            <a:ext cx="3383280" cy="1691640"/>
          </a:xfrm>
          <a:prstGeom prst="roundRect">
            <a:avLst>
              <a:gd name="adj" fmla="val 6486"/>
            </a:avLst>
          </a:prstGeom>
          <a:solidFill>
            <a:srgbClr val="181822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21040" y="438912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5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③ 향후 개선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8321040" y="4800600"/>
            <a:ext cx="28346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52400" indent="-152400">
              <a:lnSpc>
                <a:spcPct val="130000"/>
              </a:lnSpc>
              <a:buSzPct val="100000"/>
              <a:buChar char="▸"/>
            </a:pPr>
            <a:r>
              <a:rPr lang="en-US" sz="1100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retriever 선호 재랭킹</a:t>
            </a:r>
            <a:endParaRPr lang="en-US" sz="1100" dirty="0"/>
          </a:p>
          <a:p>
            <a:pPr marL="152400" indent="-152400">
              <a:lnSpc>
                <a:spcPct val="130000"/>
              </a:lnSpc>
              <a:buSzPct val="100000"/>
              <a:buChar char="▸"/>
            </a:pPr>
            <a:r>
              <a:rPr lang="en-US" sz="1100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auto↔human 상관으로 자동평가 검증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22960" y="605332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E6E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핵심: art_director 자동 점수를 사람 점수와 상관(Pearson/Spearman)으로 검증 → 자동 평가가 사람 눈을 대체할 수 있음을 입증하고, 그 심사위원을 그대로 루프 보상으로 재사용.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822960" y="6327648"/>
            <a:ext cx="320040" cy="4572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36" name="Text 34"/>
          <p:cNvSpPr/>
          <p:nvPr/>
        </p:nvSpPr>
        <p:spPr>
          <a:xfrm>
            <a:off x="82296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E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IntentCard · Computer Vision Seminar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9509760" y="64008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E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705432" cy="82296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3" name="Shape 1"/>
          <p:cNvSpPr/>
          <p:nvPr/>
        </p:nvSpPr>
        <p:spPr>
          <a:xfrm>
            <a:off x="6705432" y="0"/>
            <a:ext cx="5486263" cy="82296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6692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7A4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LIMITATIONS · 개선할 점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932688"/>
            <a:ext cx="10515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3000" b="1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정직한 한계와 다음 과제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22960" y="237744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181822"/>
          </a:solidFill>
          <a:ln w="12700">
            <a:solidFill>
              <a:srgbClr val="FF7A4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" y="256032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7A4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97280" y="3063240"/>
            <a:ext cx="283464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lnSpc>
                <a:spcPct val="135000"/>
              </a:lnSpc>
              <a:buSzPct val="100000"/>
              <a:buChar char="▸"/>
            </a:pPr>
            <a:r>
              <a:rPr lang="en-US" sz="1250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Qwen 최신 모델이 GPT 능가(영어)</a:t>
            </a:r>
            <a:endParaRPr lang="en-US" sz="1250" dirty="0"/>
          </a:p>
          <a:p>
            <a:pPr marL="177800" indent="-177800">
              <a:lnSpc>
                <a:spcPct val="135000"/>
              </a:lnSpc>
              <a:buSzPct val="100000"/>
              <a:buChar char="▸"/>
            </a:pPr>
            <a:r>
              <a:rPr lang="en-US" sz="1250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한국어에서도 그럴지 검증 필요</a:t>
            </a:r>
            <a:endParaRPr lang="en-US" sz="1250" dirty="0"/>
          </a:p>
          <a:p>
            <a:pPr marL="177800" indent="-177800">
              <a:lnSpc>
                <a:spcPct val="135000"/>
              </a:lnSpc>
              <a:buSzPct val="100000"/>
              <a:buChar char="▸"/>
            </a:pPr>
            <a:r>
              <a:rPr lang="en-US" sz="1250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태스크별 모델 env로 교체 가능하게 설계됨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434840" y="237744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181822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09160" y="256032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85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저작권·데이터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709160" y="3063240"/>
            <a:ext cx="283464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lnSpc>
                <a:spcPct val="135000"/>
              </a:lnSpc>
              <a:buSzPct val="100000"/>
              <a:buChar char="▸"/>
            </a:pPr>
            <a:r>
              <a:rPr lang="en-US" sz="1250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합성 시 원본 디자인 저작권 이슈</a:t>
            </a:r>
            <a:endParaRPr lang="en-US" sz="1250" dirty="0"/>
          </a:p>
          <a:p>
            <a:pPr marL="177800" indent="-177800">
              <a:lnSpc>
                <a:spcPct val="135000"/>
              </a:lnSpc>
              <a:buSzPct val="100000"/>
              <a:buChar char="▸"/>
            </a:pPr>
            <a:r>
              <a:rPr lang="en-US" sz="1250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라이선스 명확한 데이터셋 확대 필요</a:t>
            </a:r>
            <a:endParaRPr lang="en-US" sz="1250" dirty="0"/>
          </a:p>
          <a:p>
            <a:pPr marL="177800" indent="-177800">
              <a:lnSpc>
                <a:spcPct val="135000"/>
              </a:lnSpc>
              <a:buSzPct val="100000"/>
              <a:buChar char="▸"/>
            </a:pPr>
            <a:r>
              <a:rPr lang="en-US" sz="1250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생성-합성 경계의 권리 정리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046720" y="237744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181822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21040" y="256032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기능 안정성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321040" y="3063240"/>
            <a:ext cx="283464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lnSpc>
                <a:spcPct val="135000"/>
              </a:lnSpc>
              <a:buSzPct val="100000"/>
              <a:buChar char="▸"/>
            </a:pPr>
            <a:r>
              <a:rPr lang="en-US" sz="1250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다중 칸 중 한 곳만 합성 적용되는 버그</a:t>
            </a:r>
            <a:endParaRPr lang="en-US" sz="1250" dirty="0"/>
          </a:p>
          <a:p>
            <a:pPr marL="177800" indent="-177800">
              <a:lnSpc>
                <a:spcPct val="135000"/>
              </a:lnSpc>
              <a:buSzPct val="100000"/>
              <a:buChar char="▸"/>
            </a:pPr>
            <a:r>
              <a:rPr lang="en-US" sz="1250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동시 다중 사진 첨부 불가</a:t>
            </a:r>
            <a:endParaRPr lang="en-US" sz="1250" dirty="0"/>
          </a:p>
          <a:p>
            <a:pPr marL="177800" indent="-177800">
              <a:lnSpc>
                <a:spcPct val="135000"/>
              </a:lnSpc>
              <a:buSzPct val="100000"/>
              <a:buChar char="▸"/>
            </a:pPr>
            <a:r>
              <a:rPr lang="en-US" sz="1250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주제 문구가 합성에 반영 안 되는 현상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22960" y="6327648"/>
            <a:ext cx="320040" cy="4572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E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IntentCard · Computer Vision Seminar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9509760" y="64008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E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705432" cy="82296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3" name="Shape 1"/>
          <p:cNvSpPr/>
          <p:nvPr/>
        </p:nvSpPr>
        <p:spPr>
          <a:xfrm>
            <a:off x="6705432" y="0"/>
            <a:ext cx="5486263" cy="82296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6692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7A4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FUTURE · A2A / MCP 연구 가능성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932688"/>
            <a:ext cx="10515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2500" b="1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통제 가능한 생성 파이프라인을 </a:t>
            </a:r>
            <a:pPr algn="l" indent="0" marL="0">
              <a:lnSpc>
                <a:spcPts val="3600"/>
              </a:lnSpc>
              <a:buNone/>
            </a:pPr>
            <a:r>
              <a:rPr lang="en-US" sz="2500" b="1" dirty="0">
                <a:solidFill>
                  <a:srgbClr val="FF7A4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표준 프로토콜로 노출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822960" y="2331720"/>
            <a:ext cx="5120640" cy="3291840"/>
          </a:xfrm>
          <a:prstGeom prst="roundRect">
            <a:avLst>
              <a:gd name="adj" fmla="val 3333"/>
            </a:avLst>
          </a:prstGeom>
          <a:solidFill>
            <a:srgbClr val="181822"/>
          </a:solidFill>
          <a:ln w="12700">
            <a:solidFill>
              <a:srgbClr val="FF7A4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" y="2487168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7A4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MCP — 도구·자원의 표준화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43000" y="2971800"/>
            <a:ext cx="461772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lnSpc>
                <a:spcPct val="130000"/>
              </a:lnSpc>
              <a:buSzPct val="100000"/>
              <a:buChar char="▸"/>
            </a:pPr>
            <a:r>
              <a:rPr lang="en-US" sz="1250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 .mcp.json 사용 중 — 자연 확장</a:t>
            </a:r>
            <a:endParaRPr lang="en-US" sz="1250" dirty="0"/>
          </a:p>
          <a:p>
            <a:pPr marL="177800" indent="-177800">
              <a:lnSpc>
                <a:spcPct val="130000"/>
              </a:lnSpc>
              <a:buSzPct val="100000"/>
              <a:buChar char="▸"/>
            </a:pPr>
            <a:r>
              <a:rPr lang="en-US" sz="1250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생성·편집·평가를 MCP tool로 노출</a:t>
            </a:r>
            <a:endParaRPr lang="en-US" sz="1250" dirty="0"/>
          </a:p>
          <a:p>
            <a:pPr marL="177800" indent="-177800">
              <a:lnSpc>
                <a:spcPct val="130000"/>
              </a:lnSpc>
              <a:buSzPct val="100000"/>
              <a:buChar char="▸"/>
            </a:pPr>
            <a:r>
              <a:rPr lang="en-US" sz="1250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 가이드·폰트·템플릿 DB를 resource로</a:t>
            </a:r>
            <a:endParaRPr lang="en-US" sz="1250" dirty="0"/>
          </a:p>
          <a:p>
            <a:pPr marL="177800" indent="-177800">
              <a:lnSpc>
                <a:spcPct val="130000"/>
              </a:lnSpc>
              <a:buSzPct val="100000"/>
              <a:buChar char="▸"/>
            </a:pPr>
            <a:r>
              <a:rPr lang="en-US" sz="1250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외부 에이전트가 표준 호출로 ‘의도 통제’ 사용</a:t>
            </a:r>
            <a:endParaRPr lang="en-US" sz="1250" dirty="0"/>
          </a:p>
          <a:p>
            <a:pPr marL="177800" indent="-177800">
              <a:lnSpc>
                <a:spcPct val="130000"/>
              </a:lnSpc>
              <a:buSzPct val="100000"/>
              <a:buChar char="▸"/>
            </a:pPr>
            <a:r>
              <a:rPr lang="en-US" sz="1250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기여: 디자인 통제를 도구 인터페이스로 형식화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0" y="2331720"/>
            <a:ext cx="4937760" cy="3291840"/>
          </a:xfrm>
          <a:prstGeom prst="roundRect">
            <a:avLst>
              <a:gd name="adj" fmla="val 3333"/>
            </a:avLst>
          </a:prstGeom>
          <a:solidFill>
            <a:srgbClr val="181822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675120" y="2487168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5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A2A — 에이전트 간 협업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720840" y="2971800"/>
            <a:ext cx="443484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lnSpc>
                <a:spcPct val="130000"/>
              </a:lnSpc>
              <a:buSzPct val="100000"/>
              <a:buChar char="▸"/>
            </a:pPr>
            <a:r>
              <a:rPr lang="en-US" sz="1250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지금은 한 그래프 안의 노드들</a:t>
            </a:r>
            <a:endParaRPr lang="en-US" sz="1250" dirty="0"/>
          </a:p>
          <a:p>
            <a:pPr marL="177800" indent="-177800">
              <a:lnSpc>
                <a:spcPct val="130000"/>
              </a:lnSpc>
              <a:buSzPct val="100000"/>
              <a:buChar char="▸"/>
            </a:pPr>
            <a:r>
              <a:rPr lang="en-US" sz="1250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planner/designer/critic을 독립 에이전트로 분리</a:t>
            </a:r>
            <a:endParaRPr lang="en-US" sz="1250" dirty="0"/>
          </a:p>
          <a:p>
            <a:pPr marL="177800" indent="-177800">
              <a:lnSpc>
                <a:spcPct val="130000"/>
              </a:lnSpc>
              <a:buSzPct val="100000"/>
              <a:buChar char="▸"/>
            </a:pPr>
            <a:r>
              <a:rPr lang="en-US" sz="1250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RQ: 분산 비평-수정 루프의 품질·비용·수렴</a:t>
            </a:r>
            <a:endParaRPr lang="en-US" sz="1250" dirty="0"/>
          </a:p>
          <a:p>
            <a:pPr marL="177800" indent="-177800">
              <a:lnSpc>
                <a:spcPct val="130000"/>
              </a:lnSpc>
              <a:buSzPct val="100000"/>
              <a:buChar char="▸"/>
            </a:pPr>
            <a:r>
              <a:rPr lang="en-US" sz="1250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human-in-the-loop: 사람 디자이너 에이전트 협업</a:t>
            </a:r>
            <a:endParaRPr lang="en-US" sz="1250" dirty="0"/>
          </a:p>
          <a:p>
            <a:pPr marL="177800" indent="-177800">
              <a:lnSpc>
                <a:spcPct val="130000"/>
              </a:lnSpc>
              <a:buSzPct val="100000"/>
              <a:buChar char="▸"/>
            </a:pPr>
            <a:r>
              <a:rPr lang="en-US" sz="1250" dirty="0">
                <a:solidFill>
                  <a:srgbClr val="9A9A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솔직히: CV 알고리즘 기여 아님 → 시스템/HCI 트랙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22960" y="576072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6E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정직한 평가: A2A/MCP는 ‘통제 가능 생성’을 인프라로 확장하는 시스템 기여 — UIST/데모·평가 자동화의 받침대이지, CV 비전 논문의 주축은 아님.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22960" y="6327648"/>
            <a:ext cx="320040" cy="4572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E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IntentCard · Computer Vision Seminar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9509760" y="64008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E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705432" cy="82296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3" name="Shape 1"/>
          <p:cNvSpPr/>
          <p:nvPr/>
        </p:nvSpPr>
        <p:spPr>
          <a:xfrm>
            <a:off x="6705432" y="0"/>
            <a:ext cx="5486263" cy="82296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92024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7A4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품질이 아니라 통제로 경쟁한다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2560320"/>
            <a:ext cx="10515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4800"/>
              </a:lnSpc>
              <a:buNone/>
            </a:pPr>
            <a:r>
              <a:rPr lang="en-US" sz="3800" b="1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비전공자의 디자인 의도를
</a:t>
            </a:r>
            <a:pPr algn="ctr" indent="0" marL="0">
              <a:lnSpc>
                <a:spcPts val="4800"/>
              </a:lnSpc>
              <a:buNone/>
            </a:pPr>
            <a:r>
              <a:rPr lang="en-US" sz="3800" b="1" dirty="0">
                <a:solidFill>
                  <a:srgbClr val="FF7A4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통제 가능하게 실현한다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22960" y="43891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9A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RAG 그라운딩 · 비전 자기수정 · 배경/타이포 분리 · 정량 평가 자동화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743200" y="5120640"/>
            <a:ext cx="2157984" cy="420624"/>
          </a:xfrm>
          <a:prstGeom prst="roundRect">
            <a:avLst>
              <a:gd name="adj" fmla="val 50000"/>
            </a:avLst>
          </a:prstGeom>
          <a:solidFill>
            <a:srgbClr val="181822"/>
          </a:solidFill>
          <a:ln w="12700">
            <a:solidFill>
              <a:srgbClr val="2C2C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0" y="5120640"/>
            <a:ext cx="21579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B0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PosterLayout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065776" y="5120640"/>
            <a:ext cx="987552" cy="420624"/>
          </a:xfrm>
          <a:prstGeom prst="roundRect">
            <a:avLst>
              <a:gd name="adj" fmla="val 50000"/>
            </a:avLst>
          </a:prstGeom>
          <a:solidFill>
            <a:srgbClr val="181822"/>
          </a:solidFill>
          <a:ln w="12700">
            <a:solidFill>
              <a:srgbClr val="2C2C3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65776" y="5120640"/>
            <a:ext cx="98755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B0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RALF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17920" y="5120640"/>
            <a:ext cx="1719072" cy="420624"/>
          </a:xfrm>
          <a:prstGeom prst="roundRect">
            <a:avLst>
              <a:gd name="adj" fmla="val 50000"/>
            </a:avLst>
          </a:prstGeom>
          <a:solidFill>
            <a:srgbClr val="181822"/>
          </a:solidFill>
          <a:ln w="12700">
            <a:solidFill>
              <a:srgbClr val="2C2C3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17920" y="5120640"/>
            <a:ext cx="171907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B0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CLIPScore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743200" y="5705856"/>
            <a:ext cx="1719072" cy="420624"/>
          </a:xfrm>
          <a:prstGeom prst="roundRect">
            <a:avLst>
              <a:gd name="adj" fmla="val 50000"/>
            </a:avLst>
          </a:prstGeom>
          <a:solidFill>
            <a:srgbClr val="181822"/>
          </a:solidFill>
          <a:ln w="12700">
            <a:solidFill>
              <a:srgbClr val="2C2C3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743200" y="5705856"/>
            <a:ext cx="171907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B0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CIEDE2000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626864" y="5705856"/>
            <a:ext cx="1719072" cy="420624"/>
          </a:xfrm>
          <a:prstGeom prst="roundRect">
            <a:avLst>
              <a:gd name="adj" fmla="val 50000"/>
            </a:avLst>
          </a:prstGeom>
          <a:solidFill>
            <a:srgbClr val="181822"/>
          </a:solidFill>
          <a:ln w="12700">
            <a:solidFill>
              <a:srgbClr val="2C2C3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26864" y="5705856"/>
            <a:ext cx="171907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B0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LangGraph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510528" y="5705856"/>
            <a:ext cx="2011680" cy="420624"/>
          </a:xfrm>
          <a:prstGeom prst="roundRect">
            <a:avLst>
              <a:gd name="adj" fmla="val 50000"/>
            </a:avLst>
          </a:prstGeom>
          <a:solidFill>
            <a:srgbClr val="181822"/>
          </a:solidFill>
          <a:ln w="12700">
            <a:solidFill>
              <a:srgbClr val="2C2C3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10528" y="5705856"/>
            <a:ext cx="20116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B0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gpt-image-2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22960" y="612648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E6E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Hyunmin Han · 2026 · 감사합니다 🙌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carnews-insta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IntentCard: 비전공자의 디자인 의도를 통제 가능하게 만드는 카드뉴스 생성</dc:title>
  <dc:subject>IntentCard — 컴퓨터 비전 발표</dc:subject>
  <dc:creator>Hyunmin Han</dc:creator>
  <cp:lastModifiedBy>Hyunmin Han</cp:lastModifiedBy>
  <cp:revision>1</cp:revision>
  <dcterms:created xsi:type="dcterms:W3CDTF">2026-06-15T05:07:54Z</dcterms:created>
  <dcterms:modified xsi:type="dcterms:W3CDTF">2026-06-15T05:07:54Z</dcterms:modified>
</cp:coreProperties>
</file>