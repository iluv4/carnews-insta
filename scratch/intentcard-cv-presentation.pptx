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image" Target="../media/image-5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0"/>
            <a:ext cx="4327855" cy="2880360"/>
          </a:xfrm>
          <a:prstGeom prst="rect">
            <a:avLst/>
          </a:prstGeom>
          <a:solidFill>
            <a:srgbClr val="FF7A45"/>
          </a:solidFill>
          <a:ln/>
        </p:spPr>
      </p:sp>
      <p:pic>
        <p:nvPicPr>
          <p:cNvPr id="4" name="Image 0" descr="/home/user/carnews-insta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2103120"/>
            <a:ext cx="2606040" cy="260604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143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COMPUTER VISION SEMINAR · 2026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73736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IntentCard
</a:t>
            </a:r>
            <a:pPr algn="l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의도를 통제 가능하게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비전공자(소상공인)가 강력한 이미지 생성 모델을 자기 의도대로 통제해 카드뉴스를 만들도록 돕는 RAG + 멀티에이전트 컴퓨터 비전 시스템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4709160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70916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검색기반 생성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99232" y="4709160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99232" y="4709160"/>
            <a:ext cx="24505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Diffusion 배경생성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5294376"/>
            <a:ext cx="2157984" cy="420624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5294376"/>
            <a:ext cx="21579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Vision 비평 루프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145536" y="5294376"/>
            <a:ext cx="1719072" cy="420624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45536" y="5294376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LangGraph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0" y="5294376"/>
            <a:ext cx="2157984" cy="420624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0" y="5294376"/>
            <a:ext cx="21579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CLIP · ΔE 평가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2960" y="5989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Hyunmin Han · 기획 · 풀스택 · 연구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0" y="5989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POSITIONING · 한 줄 요지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32688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강한 모델이 아니라, </a:t>
            </a:r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강한 모델을 ‘통제’</a:t>
            </a:r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하는 문제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5120640" cy="3200400"/>
          </a:xfrm>
          <a:prstGeom prst="roundRect">
            <a:avLst>
              <a:gd name="adj" fmla="val 3429"/>
            </a:avLst>
          </a:prstGeom>
          <a:solidFill>
            <a:srgbClr val="18182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가설 (틀린 프레임)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92608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“모델이 한글/이미지를 못 만든다”
</a:t>
            </a:r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GPT-4.1-mini 파인튜닝 시도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그래도 GPT-5.5 플래그십을 능가 못함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모델 성능 경쟁은 우리가 이길 싸움이 아님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2286000"/>
            <a:ext cx="4937760" cy="320040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9050">
            <a:solidFill>
              <a:srgbClr val="5AD1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D1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재정의한 진짜 문제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292608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gpt-image-2는 이미 잘 만든다.
진짜 문제는 ‘통제 가능성’
</a:t>
            </a:r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(i) 브랜드 폰트·자간·색을 강제 못함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(ii) 생성 후 텍스트 편집 불가(래스터)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(iii) 같은 입력에도 결과가 달라 신뢰성↓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경쟁 프레임을 ‘품질(quality)’이 아니라 ‘통제(control)’로 고정한다.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IntentCard · Computer Vision Seminar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 RESEARCH · 수요 검증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32688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“디자이너 없이 매주 콘텐츠를 올려야 하는” </a:t>
            </a:r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실수요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3383280" cy="1783080"/>
          </a:xfrm>
          <a:prstGeom prst="roundRect">
            <a:avLst>
              <a:gd name="adj" fmla="val 6154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517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13만+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97280" y="34747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Threads 조회수로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검증한 시장 반응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2468880"/>
            <a:ext cx="3383280" cy="1783080"/>
          </a:xfrm>
          <a:prstGeom prst="roundRect">
            <a:avLst>
              <a:gd name="adj" fmla="val 6154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6517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5곳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709160" y="34747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가게 3 · 보험 영업 2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소상공인 협업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468880"/>
            <a:ext cx="3383280" cy="1783080"/>
          </a:xfrm>
          <a:prstGeom prst="roundRect">
            <a:avLst>
              <a:gd name="adj" fmla="val 6154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6517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45+8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21040" y="34747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크롤링 38 + 협업/생성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카드뉴스 데이터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관찰된 핵심 통점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9834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40000"/>
              </a:lnSpc>
              <a:buSzPct val="100000"/>
              <a:buChar char="▸"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“신뢰감 있게 · 프리미엄하게 · 20대 타깃” — 의도는 분명한데 손으로 못 옮김</a:t>
            </a:r>
            <a:endParaRPr lang="en-US" sz="1300" dirty="0"/>
          </a:p>
          <a:p>
            <a:pPr marL="203200" indent="-203200">
              <a:lnSpc>
                <a:spcPct val="140000"/>
              </a:lnSpc>
              <a:buSzPct val="100000"/>
              <a:buChar char="▸"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외주·툴 학습 비용이 부담되는 1인 운영 단위가 반복 제작에 막힘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IntentCard · Computer Vision Seminar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RELATED WORK · 컴퓨터 비전 선행연구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32688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레이아웃 생성 · 이미지 내 텍스트 · 검색기반 생성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5120640" cy="3611880"/>
          </a:xfrm>
          <a:prstGeom prst="roundRect">
            <a:avLst>
              <a:gd name="adj" fmla="val 3038"/>
            </a:avLst>
          </a:prstGeom>
          <a:solidFill>
            <a:srgbClr val="181822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87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인지 레이아웃 생성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971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PosterLayout (CVPR’23)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" y="32644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content-aware 레이아웃 벤치마크·지표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3685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RALF (CVPR’24)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9728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Retrieval-Augmented Layout — 우리 RAG의 학술 근거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43982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CGL / PDA-GAN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97280" y="46908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image-aware 배치 (소실영역 회피)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511149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SEGA (ICCV’25)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97280" y="54041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최신 content-aware 레이아웃 baseline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331720"/>
            <a:ext cx="5120640" cy="3611880"/>
          </a:xfrm>
          <a:prstGeom prst="roundRect">
            <a:avLst>
              <a:gd name="adj" fmla="val 3038"/>
            </a:avLst>
          </a:prstGeom>
          <a:solidFill>
            <a:srgbClr val="181822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487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내 텍스트 렌더링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2971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GlyphControl / TextDiffuser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2240" y="32644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확산모델 글자 렌더 제어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3685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AnyText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9224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다국어 텍스트 생성/편집 (한글 baseline)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43982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DSF (Design Sequence)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92240" y="46908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logo→text→underlay 디자인 순서 모델링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511149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 (ICML’21)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92240" y="54041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임베딩 검색 + CLIPScore 평가 근거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60350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원칙: 1차 논문만 인용 — 온라인 강의는 스킬 습득용, 인용 소스 아님.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IntentCard · Computer Vision Seminar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DATASET · 카드뉴스 데이터 구축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32688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인스타 디자인을 임베딩한 </a:t>
            </a:r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‘디자인 DNA’ 코퍼스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6309360" cy="640080"/>
          </a:xfrm>
          <a:prstGeom prst="roundRect">
            <a:avLst>
              <a:gd name="adj" fmla="val 17143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688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크롤링 38개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24688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@sosohanscenery 등 실제 운영 계정의 카드뉴스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218688"/>
            <a:ext cx="6309360" cy="640080"/>
          </a:xfrm>
          <a:prstGeom prst="roundRect">
            <a:avLst>
              <a:gd name="adj" fmla="val 17143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21868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 수집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321868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가게 3곳 · 보험 영업 2명 등 소상공인 실물 전달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968496"/>
            <a:ext cx="6309360" cy="640080"/>
          </a:xfrm>
          <a:prstGeom prst="roundRect">
            <a:avLst>
              <a:gd name="adj" fmla="val 17143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968496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GPT 생성 8개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3968496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ChatGPT 기반 카드뉴스 시드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718304"/>
            <a:ext cx="6309360" cy="640080"/>
          </a:xfrm>
          <a:prstGeom prst="roundRect">
            <a:avLst>
              <a:gd name="adj" fmla="val 17143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718304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45개 임베딩 인덱스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4718304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text-embedding-3-large → pgvector / numpy 검색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406640" y="2331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 레퍼런스</a:t>
            </a:r>
            <a:endParaRPr lang="en-US" sz="1200" dirty="0"/>
          </a:p>
        </p:txBody>
      </p:sp>
      <p:pic>
        <p:nvPicPr>
          <p:cNvPr id="19" name="Image 0" descr="/home/user/carnews-insta/public/saved-refs/saved_C-QCe6gvsw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2697480"/>
            <a:ext cx="1234440" cy="1325880"/>
          </a:xfrm>
          <a:prstGeom prst="rect">
            <a:avLst/>
          </a:prstGeom>
        </p:spPr>
      </p:pic>
      <p:pic>
        <p:nvPicPr>
          <p:cNvPr id="20" name="Image 1" descr="/home/user/carnews-insta/public/saved-refs/saved_C-Ul3yQpgW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697480"/>
            <a:ext cx="1234440" cy="1325880"/>
          </a:xfrm>
          <a:prstGeom prst="rect">
            <a:avLst/>
          </a:prstGeom>
        </p:spPr>
      </p:pic>
      <p:pic>
        <p:nvPicPr>
          <p:cNvPr id="21" name="Image 2" descr="/home/user/carnews-insta/public/saved-refs/saved_DCGoo8mSr0M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697480"/>
            <a:ext cx="1234440" cy="1325880"/>
          </a:xfrm>
          <a:prstGeom prst="rect">
            <a:avLst/>
          </a:prstGeom>
        </p:spPr>
      </p:pic>
      <p:pic>
        <p:nvPicPr>
          <p:cNvPr id="22" name="Image 3" descr="/home/user/carnews-insta/public/saved-refs/saved_DJbOPtCPss_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4160520"/>
            <a:ext cx="1234440" cy="1325880"/>
          </a:xfrm>
          <a:prstGeom prst="rect">
            <a:avLst/>
          </a:prstGeom>
        </p:spPr>
      </p:pic>
      <p:pic>
        <p:nvPicPr>
          <p:cNvPr id="23" name="Image 4" descr="/home/user/carnews-insta/public/saved-refs/saved_DMcfFaNz18t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4160520"/>
            <a:ext cx="1234440" cy="1325880"/>
          </a:xfrm>
          <a:prstGeom prst="rect">
            <a:avLst/>
          </a:prstGeom>
        </p:spPr>
      </p:pic>
      <p:pic>
        <p:nvPicPr>
          <p:cNvPr id="24" name="Image 5" descr="/home/user/carnews-insta/public/saved-refs/saved_DOiPIpEgay7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0" y="4160520"/>
            <a:ext cx="1234440" cy="1325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재현성 원칙: DATABASE_URL 비운 로컬 numpy 모드 + 고정 seed로 N회 반복 측정.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7" name="Text 19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IntentCard · Computer Vision Seminar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PROMPT DESIGN · 합성 통제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32688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Image1=디자인 고정, Image2=제품만 — </a:t>
            </a:r>
            <a:pPr algn="l"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구조를 강제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181822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87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1 — 디자인을 통제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92608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레이아웃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타이포 배치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그래픽 요소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프로모션 배지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색·조명·구도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 앵글·광고 스타일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2331720"/>
            <a:ext cx="4937760" cy="3657600"/>
          </a:xfrm>
          <a:prstGeom prst="roundRect">
            <a:avLst>
              <a:gd name="adj" fmla="val 3000"/>
            </a:avLst>
          </a:prstGeom>
          <a:solidFill>
            <a:srgbClr val="18182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487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2 — 제품만 (그 외 전부 금지)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20840" y="2926080"/>
            <a:ext cx="4480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0000"/>
              </a:lnSpc>
              <a:buSzPct val="100000"/>
              <a:buChar char="✕"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 완전 제거 → 제품만 추출·합성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✕"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광고 디자인 생성 금지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✕"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레이아웃·배경 재설계 금지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✕"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타이포/배지 위치 변경 금지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✕"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시각적 위계 변경 금지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✕"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충돌 시 항상 Image 1을 따른다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IntentCard · Computer Vision Seminar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CV · 배경 생성 + 타이포 분리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32688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5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확산모델은 </a:t>
            </a:r>
            <a:pPr algn="l" indent="0" marL="0">
              <a:lnSpc>
                <a:spcPts val="3600"/>
              </a:lnSpc>
              <a:buNone/>
            </a:pPr>
            <a:r>
              <a:rPr lang="en-US" sz="25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글자 없는 배경</a:t>
            </a:r>
            <a:pPr algn="l" indent="0" marL="0">
              <a:lnSpc>
                <a:spcPts val="3600"/>
              </a:lnSpc>
              <a:buNone/>
            </a:pPr>
            <a:r>
              <a:rPr lang="en-US" sz="25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만, 한글은 CSS로 오버레이</a:t>
            </a:r>
            <a:endParaRPr lang="en-US" sz="2500" dirty="0"/>
          </a:p>
        </p:txBody>
      </p:sp>
      <p:pic>
        <p:nvPicPr>
          <p:cNvPr id="6" name="Image 0" descr="/home/user/carnews-insta/scratch/diffusion_expla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286000"/>
            <a:ext cx="4480560" cy="32552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0" y="55595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확산모델 디노이징 과정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5760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문제: 확산모델이 한글을 ‘구우면’ 헛글자(glyph 깨짐)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GlyphControl/AnyText 계열도 한글 신뢰성 한계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5AD1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해결(구조적 분리):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1) gpt-image-2 → 텍스트 없는 배경만 생성
2) 한국어 카피는 브라우저 CSS 타이포로 오버레이
3) Fabric.js 캔버스로 사람이 정밀 편집
</a:t>
            </a:r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효과: 브랜드 색 0오차 · 즉시 편집 · 결정적 재현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IntentCard · Computer Vision Seminar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ANALYSIS · 레이어 분리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32688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 / 배경 레이어를 </a:t>
            </a:r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분해</a:t>
            </a:r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 편집 가능하게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54584" y="246888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4584" y="26151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6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7736" y="2926080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생성된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카드뉴스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529688" y="2468880"/>
            <a:ext cx="3291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822296" y="246888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2296" y="26151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6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GPT-4.1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95448" y="2926080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시도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(성능 한계)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97400" y="2468880"/>
            <a:ext cx="3291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90008" y="246888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0008" y="26151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6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63160" y="2926080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분석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미지원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065112" y="2468880"/>
            <a:ext cx="3291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357720" y="246888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1C1C28"/>
          </a:solidFill>
          <a:ln w="19050">
            <a:solidFill>
              <a:srgbClr val="FF7A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57720" y="26151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7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UPSTAGE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30872" y="2926080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Analyzer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332824" y="2468880"/>
            <a:ext cx="3291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625432" y="246888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25432" y="26151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6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98584" y="2926080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레이어 분리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편집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4572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 변천: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gpt-4.1(레이어 인식 약함) → gpt-5.5(텍스트는 강하나 비전 분석 미제공) →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Upstage Layout Analyzer로 문서 레이아웃을 검출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해 텍스트/배경 박스를 구조화.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합성 결과를 ‘읽고’ 다시 편집 가능한 객체로 되돌리는 것이 CV 파트의 난제.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IntentCard · Computer Vision Seminar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SYSTEM · RAG + 멀티에이전트 SELF-CORRECTION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32688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5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검색으로 근거 잡고, </a:t>
            </a:r>
            <a:pPr algn="l" indent="0" marL="0">
              <a:lnSpc>
                <a:spcPts val="3600"/>
              </a:lnSpc>
              <a:buNone/>
            </a:pPr>
            <a:r>
              <a:rPr lang="en-US" sz="25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비전 비평으로 스스로 고치는</a:t>
            </a:r>
            <a:pPr algn="l" indent="0" marL="0">
              <a:lnSpc>
                <a:spcPts val="3600"/>
              </a:lnSpc>
              <a:buNone/>
            </a:pPr>
            <a:r>
              <a:rPr lang="en-US" sz="25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그래프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64312" y="233172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4312" y="24780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6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7464" y="2788920"/>
            <a:ext cx="18653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planner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분해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39416" y="2331720"/>
            <a:ext cx="274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877160" y="233172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1C1C28"/>
          </a:solidFill>
          <a:ln w="19050">
            <a:solidFill>
              <a:srgbClr val="FF7A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77160" y="24780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7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50312" y="2788920"/>
            <a:ext cx="18653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retriever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 디자인 검색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52264" y="2331720"/>
            <a:ext cx="274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90008" y="233172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0008" y="24780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6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63160" y="2788920"/>
            <a:ext cx="18653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copywriter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카피 생성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065112" y="2331720"/>
            <a:ext cx="274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302856" y="233172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02856" y="24780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6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76008" y="2788920"/>
            <a:ext cx="18653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designer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아트디렉션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77960" y="2331720"/>
            <a:ext cx="274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515704" y="233172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15704" y="24780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E6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GPT-IMAGE-2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588856" y="2788920"/>
            <a:ext cx="18653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image_gen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 렌더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2960" y="4297680"/>
            <a:ext cx="6766560" cy="1554480"/>
          </a:xfrm>
          <a:prstGeom prst="roundRect">
            <a:avLst>
              <a:gd name="adj" fmla="val 7059"/>
            </a:avLst>
          </a:prstGeom>
          <a:solidFill>
            <a:srgbClr val="1C1C28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434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자기수정 사이클 (LangGraph cycle)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800600"/>
            <a:ext cx="6309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art_director(GPT-5.2 vision)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 가독성·대비·위계·한글 타이포·브랜드·아티팩트를 채점 →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reviser → designer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로 되돌아가 임계점수까지 재생성. 슬라이드는 Send API로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AD1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fan-out 병렬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0" y="42976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단순 프롬프트 체인이 아닌가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01000" y="480060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사이클(피드백 루프)이 있음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실제 벡터검색으로 근거 grounding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비전 비평으로 품질을 ‘측정’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IntentCard · Computer Vision Seminar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ARCHITECTURE · 2-서비스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32688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프레젠테이션과 AI 오케스트레이션의 </a:t>
            </a:r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분리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4937760" cy="2377440"/>
          </a:xfrm>
          <a:prstGeom prst="roundRect">
            <a:avLst>
              <a:gd name="adj" fmla="val 4615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Next.js 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310896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▸"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· Auth · Prisma · DB</a:t>
            </a:r>
            <a:endParaRPr lang="en-US" sz="1300" dirty="0"/>
          </a:p>
          <a:p>
            <a:pPr marL="177800" indent="-177800">
              <a:lnSpc>
                <a:spcPct val="135000"/>
              </a:lnSpc>
              <a:buSzPct val="100000"/>
              <a:buChar char="▸"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Fabric.js 캔버스 렌더/편집</a:t>
            </a:r>
            <a:endParaRPr lang="en-US" sz="1300" dirty="0"/>
          </a:p>
          <a:p>
            <a:pPr marL="177800" indent="-177800">
              <a:lnSpc>
                <a:spcPct val="135000"/>
              </a:lnSpc>
              <a:buSzPct val="100000"/>
              <a:buChar char="▸"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SSE 패스스루(agent-generate)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2468880"/>
            <a:ext cx="4937760" cy="2377440"/>
          </a:xfrm>
          <a:prstGeom prst="roundRect">
            <a:avLst>
              <a:gd name="adj" fmla="val 4615"/>
            </a:avLst>
          </a:prstGeom>
          <a:solidFill>
            <a:srgbClr val="181822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agent-service (Python)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20840" y="310896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▸"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FastAPI + LangGraph StateGraph</a:t>
            </a:r>
            <a:endParaRPr lang="en-US" sz="1300" dirty="0"/>
          </a:p>
          <a:p>
            <a:pPr marL="177800" indent="-177800">
              <a:lnSpc>
                <a:spcPct val="135000"/>
              </a:lnSpc>
              <a:buSzPct val="100000"/>
              <a:buChar char="▸"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planner→retriever→…→art_director</a:t>
            </a:r>
            <a:endParaRPr lang="en-US" sz="1300" dirty="0"/>
          </a:p>
          <a:p>
            <a:pPr marL="177800" indent="-177800">
              <a:lnSpc>
                <a:spcPct val="135000"/>
              </a:lnSpc>
              <a:buSzPct val="100000"/>
              <a:buChar char="▸"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node-by-node 이벤트 스트리밍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502920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1C1C28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50292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 인프라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Postgres(Neon) · pgvector 인덱스 · gpt-image-2 / GPT-5.5 / GPT-5.2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모든 노드는 키 없이도 도는 결정적 폴백 보유(오프라인 데모/테스트).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IntentCard · Computer Vision Seminar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EVALUATION · ‘눈으로 보던 것’을 자동화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32688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주관적 품질을 </a:t>
            </a:r>
            <a:pPr algn="l"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가능한 프록시</a:t>
            </a:r>
            <a:pPr algn="l"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분해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0515600" cy="457200"/>
          </a:xfrm>
          <a:prstGeom prst="roundRect">
            <a:avLst>
              <a:gd name="adj" fmla="val 24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색 일치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74720" y="233172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CIEDE2000 ΔE (지정 HEX↔샘플색)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738360" y="24231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5AD19A"/>
          </a:solidFill>
          <a:ln/>
        </p:spPr>
      </p:sp>
      <p:sp>
        <p:nvSpPr>
          <p:cNvPr id="10" name="Text 8"/>
          <p:cNvSpPr/>
          <p:nvPr/>
        </p:nvSpPr>
        <p:spPr>
          <a:xfrm>
            <a:off x="973836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E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구현됨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2880360"/>
            <a:ext cx="10515600" cy="457200"/>
          </a:xfrm>
          <a:prstGeom prst="roundRect">
            <a:avLst>
              <a:gd name="adj" fmla="val 24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880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재현성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74720" y="288036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입력 N회 렌더 픽셀 분산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738360" y="29718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5AD19A"/>
          </a:solidFill>
          <a:ln/>
        </p:spPr>
      </p:sp>
      <p:sp>
        <p:nvSpPr>
          <p:cNvPr id="15" name="Text 13"/>
          <p:cNvSpPr/>
          <p:nvPr/>
        </p:nvSpPr>
        <p:spPr>
          <a:xfrm>
            <a:off x="9738360" y="2971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E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구현됨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" y="3429000"/>
            <a:ext cx="10515600" cy="457200"/>
          </a:xfrm>
          <a:prstGeom prst="roundRect">
            <a:avLst>
              <a:gd name="adj" fmla="val 24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비용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74720" y="342900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1글자 수정 시간·재생성 횟수 로그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738360" y="352044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5AD19A"/>
          </a:solidFill>
          <a:ln/>
        </p:spPr>
      </p:sp>
      <p:sp>
        <p:nvSpPr>
          <p:cNvPr id="20" name="Text 18"/>
          <p:cNvSpPr/>
          <p:nvPr/>
        </p:nvSpPr>
        <p:spPr>
          <a:xfrm>
            <a:off x="9738360" y="3520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E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구현됨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2960" y="3977640"/>
            <a:ext cx="10515600" cy="457200"/>
          </a:xfrm>
          <a:prstGeom prst="roundRect">
            <a:avLst>
              <a:gd name="adj" fmla="val 24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 충실도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474720" y="397764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OCR로 헛글자 검출 + 의도 카피와 CER/WER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738360" y="4069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/>
        </p:spPr>
      </p:sp>
      <p:sp>
        <p:nvSpPr>
          <p:cNvPr id="25" name="Text 23"/>
          <p:cNvSpPr/>
          <p:nvPr/>
        </p:nvSpPr>
        <p:spPr>
          <a:xfrm>
            <a:off x="9738360" y="4069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E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22960" y="4526280"/>
            <a:ext cx="10515600" cy="457200"/>
          </a:xfrm>
          <a:prstGeom prst="roundRect">
            <a:avLst>
              <a:gd name="adj" fmla="val 24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4526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의도 정합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474720" y="45262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CLIPScore(의도텍스트 ↔ 결과 이미지)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738360" y="461772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/>
        </p:spPr>
      </p:sp>
      <p:sp>
        <p:nvSpPr>
          <p:cNvPr id="30" name="Text 28"/>
          <p:cNvSpPr/>
          <p:nvPr/>
        </p:nvSpPr>
        <p:spPr>
          <a:xfrm>
            <a:off x="9738360" y="4617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E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훅 준비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2960" y="5074920"/>
            <a:ext cx="10515600" cy="457200"/>
          </a:xfrm>
          <a:prstGeom prst="roundRect">
            <a:avLst>
              <a:gd name="adj" fmla="val 24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074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레이아웃 품질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474720" y="507492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PosterLayout 지표(overlap·정렬·소실영역)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738360" y="51663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/>
        </p:spPr>
      </p:sp>
      <p:sp>
        <p:nvSpPr>
          <p:cNvPr id="35" name="Text 33"/>
          <p:cNvSpPr/>
          <p:nvPr/>
        </p:nvSpPr>
        <p:spPr>
          <a:xfrm>
            <a:off x="9738360" y="5166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E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22960" y="5623560"/>
            <a:ext cx="10515600" cy="457200"/>
          </a:xfrm>
          <a:prstGeom prst="roundRect">
            <a:avLst>
              <a:gd name="adj" fmla="val 24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1560" y="5623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미학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474720" y="562356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LLM-as-judge(art_director) ↔ 사람 평가 상관 검증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738360" y="57150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/>
        </p:spPr>
      </p:sp>
      <p:sp>
        <p:nvSpPr>
          <p:cNvPr id="40" name="Text 38"/>
          <p:cNvSpPr/>
          <p:nvPr/>
        </p:nvSpPr>
        <p:spPr>
          <a:xfrm>
            <a:off x="9738360" y="5715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E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22960" y="619963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아이디어: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비전 LLM 심사위원의 점수를 ‘사람 골드 라벨과의 상관계수’로 검증하면, 자동 점수가 사람 눈을 대체할 수 있음을 입증 — 그 심사위원을 그대로 self-correction 루프의 보상으로 재사용한다. (scripts/measure_control.py)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IntentCard · Computer Vision Seminar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LIMITATIONS · 개선할 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32688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정직한 한계와 다음 과제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81822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▸"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Qwen 최신 모델이 GPT 능가(영어)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▸"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한국어에서도 그럴지 검증 필요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▸"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태스크별 모델 env로 교체 가능하게 설계됨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237744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81822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저작권·데이터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9160" y="306324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▸"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합성 시 원본 디자인 저작권 이슈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▸"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라이선스 명확한 데이터셋 확대 필요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▸"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생성-합성 경계의 권리 정리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237744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8182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안정성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21040" y="306324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▸"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 칸 중 한 곳만 합성 적용되는 버그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▸"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동시 다중 사진 첨부 불가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▸"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문구가 합성에 반영 안 되는 현상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IntentCard · Computer Vision Seminar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FUTURE · A2A / MCP 연구 가능성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32688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5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통제 가능한 생성 파이프라인을 </a:t>
            </a:r>
            <a:pPr algn="l" indent="0" marL="0">
              <a:lnSpc>
                <a:spcPts val="3600"/>
              </a:lnSpc>
              <a:buNone/>
            </a:pPr>
            <a:r>
              <a:rPr lang="en-US" sz="25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 프로토콜로 노출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181822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87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— 도구·자원의 표준화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971800"/>
            <a:ext cx="4617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0000"/>
              </a:lnSpc>
              <a:buSzPct val="100000"/>
              <a:buChar char="▸"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.mcp.json 사용 중 — 자연 확장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▸"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생성·편집·평가를 MCP tool로 노출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▸"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가이드·폰트·템플릿 DB를 resource로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▸"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에이전트가 표준 호출로 ‘의도 통제’ 사용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▸"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기여: 디자인 통제를 도구 인터페이스로 형식화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2331720"/>
            <a:ext cx="4937760" cy="3291840"/>
          </a:xfrm>
          <a:prstGeom prst="roundRect">
            <a:avLst>
              <a:gd name="adj" fmla="val 3333"/>
            </a:avLst>
          </a:prstGeom>
          <a:solidFill>
            <a:srgbClr val="181822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487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A2A — 에이전트 간 협업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20840" y="2971800"/>
            <a:ext cx="4434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0000"/>
              </a:lnSpc>
              <a:buSzPct val="100000"/>
              <a:buChar char="▸"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지금은 한 그래프 안의 노드들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▸"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planner/designer/critic을 독립 에이전트로 분리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▸"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RQ: 분산 비평-수정 루프의 품질·비용·수렴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▸"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human-in-the-loop: 사람 디자이너 에이전트 협업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▸"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솔직히: CV 알고리즘 기여 아님 → 시스템/HCI 트랙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정직한 평가: A2A/MCP는 ‘통제 가능 생성’을 인프라로 확장하는 시스템 기여 — UIST/데모·평가 자동화의 받침대이지, CV 비전 논문의 주축은 아님.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IntentCard · Computer Vision Seminar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품질이 아니라 통제로 경쟁한다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비전공자의 디자인 의도를
</a:t>
            </a:r>
            <a:pPr algn="ctr"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통제 가능하게 실현한다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389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그라운딩 · 비전 자기수정 · 배경/타이포 분리 · 정량 평가 자동화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5120640"/>
            <a:ext cx="2157984" cy="420624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5120640"/>
            <a:ext cx="21579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PosterLayout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65776" y="5120640"/>
            <a:ext cx="987552" cy="420624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65776" y="5120640"/>
            <a:ext cx="9875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RALF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5120640"/>
            <a:ext cx="1719072" cy="420624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512064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CLIPScore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5705856"/>
            <a:ext cx="1719072" cy="420624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5705856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CIEDE2000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26864" y="5705856"/>
            <a:ext cx="1719072" cy="420624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5705856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LangGraph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10528" y="5705856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570585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gpt-image-2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Hyunmin Han · 2026 · 감사합니다 🙌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carnews-insta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IntentCard: 비전공자의 디자인 의도를 통제 가능하게 만드는 카드뉴스 생성</dc:title>
  <dc:subject>IntentCard — 컴퓨터 비전 발표</dc:subject>
  <dc:creator>Hyunmin Han</dc:creator>
  <cp:lastModifiedBy>Hyunmin Han</cp:lastModifiedBy>
  <cp:revision>1</cp:revision>
  <dcterms:created xsi:type="dcterms:W3CDTF">2026-06-15T04:31:01Z</dcterms:created>
  <dcterms:modified xsi:type="dcterms:W3CDTF">2026-06-15T04:31:01Z</dcterms:modified>
</cp:coreProperties>
</file>