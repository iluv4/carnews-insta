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1097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FF6B35"/>
                </a:solidFill>
                <a:latin typeface="맑은 고딕"/>
              </a:rPr>
              <a:t>PR #11</a:t>
            </a:r>
          </a:p>
          <a:p>
            <a:pPr>
              <a:spcBef>
                <a:spcPts val="600"/>
              </a:spcBef>
            </a:pPr>
            <a:r>
              <a:rPr sz="4000" b="1">
                <a:solidFill>
                  <a:srgbClr val="FFFFFF"/>
                </a:solidFill>
                <a:latin typeface="맑은 고딕"/>
              </a:rPr>
              <a:t>편집 가능한 레이어 카드뉴스 파이프라인</a:t>
            </a:r>
          </a:p>
          <a:p>
            <a:pPr>
              <a:spcBef>
                <a:spcPts val="1400"/>
              </a:spcBef>
            </a:pPr>
            <a:r>
              <a:rPr sz="1900" b="0">
                <a:solidFill>
                  <a:srgbClr val="CBD5E1"/>
                </a:solidFill>
                <a:latin typeface="맑은 고딕"/>
              </a:rPr>
              <a:t>COLE 스타일 레이어 문서 + AI 배경 생성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94A3B8"/>
                </a:solidFill>
                <a:latin typeface="맑은 고딕"/>
              </a:rPr>
              <a:t>“단일 이미지 생성” → “편집 가능한 레이어 편집기”로 전환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6B35"/>
                </a:solidFill>
                <a:latin typeface="맑은 고딕"/>
              </a:rPr>
              <a:t>BACKGROUND</a:t>
            </a:r>
          </a:p>
          <a:p>
            <a:pPr>
              <a:spcBef>
                <a:spcPts val="200"/>
              </a:spcBef>
            </a:pPr>
            <a:r>
              <a:rPr sz="3000" b="1">
                <a:solidFill>
                  <a:srgbClr val="1A202C"/>
                </a:solidFill>
                <a:latin typeface="맑은 고딕"/>
              </a:rPr>
              <a:t>문제 / 배경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627632"/>
            <a:ext cx="100584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10789920" cy="841248"/>
          </a:xfrm>
          <a:prstGeom prst="roundRect">
            <a:avLst>
              <a:gd name="adj" fmla="val 12000"/>
            </a:avLst>
          </a:prstGeom>
          <a:solidFill>
            <a:srgbClr val="FFF5E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03704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1">
                <a:solidFill>
                  <a:srgbClr val="FF6B35"/>
                </a:solidFill>
                <a:latin typeface="맑은 고딕"/>
              </a:rPr>
              <a:t>기존 방식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203704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맑은 고딕"/>
              </a:rPr>
              <a:t>Design DNA → 서버에서 통이미지 1장 생성 (Puppeteer 스크린샷)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044952"/>
            <a:ext cx="10789920" cy="841248"/>
          </a:xfrm>
          <a:prstGeom prst="roundRect">
            <a:avLst>
              <a:gd name="adj" fmla="val 12000"/>
            </a:avLst>
          </a:prstGeom>
          <a:solidFill>
            <a:srgbClr val="FFF5E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191256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1">
                <a:solidFill>
                  <a:srgbClr val="FF6B35"/>
                </a:solidFill>
                <a:latin typeface="맑은 고딕"/>
              </a:rPr>
              <a:t>한계 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191256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맑은 고딕"/>
              </a:rPr>
              <a:t>생성 후 텍스트 수정 불가 — 글자가 이미지에 박힘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032504"/>
            <a:ext cx="10789920" cy="841248"/>
          </a:xfrm>
          <a:prstGeom prst="roundRect">
            <a:avLst>
              <a:gd name="adj" fmla="val 12000"/>
            </a:avLst>
          </a:prstGeom>
          <a:solidFill>
            <a:srgbClr val="FFF5E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78808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1">
                <a:solidFill>
                  <a:srgbClr val="FF6B35"/>
                </a:solidFill>
                <a:latin typeface="맑은 고딕"/>
              </a:rPr>
              <a:t>한계 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178808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맑은 고딕"/>
              </a:rPr>
              <a:t>서버 헤드리스 크롬이 Vercel에서 불안정 (libnss3.so 누락 → 크래시)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020056"/>
            <a:ext cx="10789920" cy="841248"/>
          </a:xfrm>
          <a:prstGeom prst="roundRect">
            <a:avLst>
              <a:gd name="adj" fmla="val 12000"/>
            </a:avLst>
          </a:prstGeom>
          <a:solidFill>
            <a:srgbClr val="FFF5E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6636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1">
                <a:solidFill>
                  <a:srgbClr val="FF6B35"/>
                </a:solidFill>
                <a:latin typeface="맑은 고딕"/>
              </a:rPr>
              <a:t>한계 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16636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맑은 고딕"/>
              </a:rPr>
              <a:t>AI 이미지 생성 시 한글 깨짐 / 오타 발생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6B35"/>
                </a:solidFill>
                <a:latin typeface="맑은 고딕"/>
              </a:rPr>
              <a:t>SOLUTION</a:t>
            </a:r>
          </a:p>
          <a:p>
            <a:pPr>
              <a:spcBef>
                <a:spcPts val="200"/>
              </a:spcBef>
            </a:pPr>
            <a:r>
              <a:rPr sz="3000" b="1">
                <a:solidFill>
                  <a:srgbClr val="1A202C"/>
                </a:solidFill>
                <a:latin typeface="맑은 고딕"/>
              </a:rPr>
              <a:t>해결 방향 (핵심 아이디어)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627632"/>
            <a:ext cx="100584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529584" cy="3108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48840"/>
            <a:ext cx="3529584" cy="12801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514600"/>
            <a:ext cx="640080" cy="640080"/>
          </a:xfrm>
          <a:prstGeom prst="ellipse">
            <a:avLst/>
          </a:prstGeom>
          <a:solidFill>
            <a:srgbClr val="FFF5EF"/>
          </a:solidFill>
          <a:ln w="1905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6B35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28895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A202C"/>
                </a:solidFill>
                <a:latin typeface="맑은 고딕"/>
              </a:rPr>
              <a:t>레이어 분리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77639"/>
            <a:ext cx="2889504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0">
                <a:solidFill>
                  <a:srgbClr val="475569"/>
                </a:solidFill>
                <a:latin typeface="맑은 고딕"/>
              </a:rPr>
              <a:t>배경 / 텍스트 / 도형을 각각 편집 가능한 레이어로 관리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148840"/>
            <a:ext cx="3529584" cy="3108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2148840"/>
            <a:ext cx="3529584" cy="12801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27448" y="2514600"/>
            <a:ext cx="640080" cy="640080"/>
          </a:xfrm>
          <a:prstGeom prst="ellipse">
            <a:avLst/>
          </a:prstGeom>
          <a:solidFill>
            <a:srgbClr val="FFF5EF"/>
          </a:solidFill>
          <a:ln w="1905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6B35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3383280"/>
            <a:ext cx="28895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A202C"/>
                </a:solidFill>
                <a:latin typeface="맑은 고딕"/>
              </a:rPr>
              <a:t>AI는 배경만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977639"/>
            <a:ext cx="2889504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0">
                <a:solidFill>
                  <a:srgbClr val="475569"/>
                </a:solidFill>
                <a:latin typeface="맑은 고딕"/>
              </a:rPr>
              <a:t>“글자 없는 배경”만 생성 → 한글 카피는 편집 텍스트로 위에 얹음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2148840"/>
            <a:ext cx="3529584" cy="3108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9016" y="2148840"/>
            <a:ext cx="3529584" cy="12801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49056" y="2514600"/>
            <a:ext cx="640080" cy="640080"/>
          </a:xfrm>
          <a:prstGeom prst="ellipse">
            <a:avLst/>
          </a:prstGeom>
          <a:solidFill>
            <a:srgbClr val="FFF5EF"/>
          </a:solidFill>
          <a:ln w="1905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6B35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3383280"/>
            <a:ext cx="28895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A202C"/>
                </a:solidFill>
                <a:latin typeface="맑은 고딕"/>
              </a:rPr>
              <a:t>렌더링 클라이언트로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3977639"/>
            <a:ext cx="2889504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0">
                <a:solidFill>
                  <a:srgbClr val="475569"/>
                </a:solidFill>
                <a:latin typeface="맑은 고딕"/>
              </a:rPr>
              <a:t>최종 이미지 생성을 브라우저에서 → 불안정한 서버 크롬 제거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6B35"/>
                </a:solidFill>
                <a:latin typeface="맑은 고딕"/>
              </a:rPr>
              <a:t>DATA MODEL</a:t>
            </a:r>
          </a:p>
          <a:p>
            <a:pPr>
              <a:spcBef>
                <a:spcPts val="200"/>
              </a:spcBef>
            </a:pPr>
            <a:r>
              <a:rPr sz="3000" b="1">
                <a:solidFill>
                  <a:srgbClr val="1A202C"/>
                </a:solidFill>
                <a:latin typeface="맑은 고딕"/>
              </a:rPr>
              <a:t>핵심 데이터 모델: LayerDocument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627632"/>
            <a:ext cx="100584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6035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FF6B35"/>
                </a:solidFill>
                <a:latin typeface="맑은 고딕"/>
              </a:rPr>
              <a:t>● </a:t>
            </a:r>
            <a:r>
              <a:rPr sz="1700" b="0">
                <a:solidFill>
                  <a:srgbClr val="475569"/>
                </a:solidFill>
                <a:latin typeface="맑은 고딕"/>
              </a:rPr>
              <a:t>렌더 방식과 무관한 계층 레이어 트리 (캔버스 1024×1536, 인스타 4:5)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FF6B35"/>
                </a:solidFill>
                <a:latin typeface="맑은 고딕"/>
              </a:rPr>
              <a:t>● </a:t>
            </a:r>
            <a:r>
              <a:rPr sz="1700" b="0">
                <a:solidFill>
                  <a:srgbClr val="475569"/>
                </a:solidFill>
                <a:latin typeface="맑은 고딕"/>
              </a:rPr>
              <a:t>레이어 종류: Background / Text / Image / Shape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FF6B35"/>
                </a:solidFill>
                <a:latin typeface="맑은 고딕"/>
              </a:rPr>
              <a:t>● </a:t>
            </a:r>
            <a:r>
              <a:rPr sz="1700" b="0">
                <a:solidFill>
                  <a:srgbClr val="475569"/>
                </a:solidFill>
                <a:latin typeface="맑은 고딕"/>
              </a:rPr>
              <a:t>각 레이어: 위치(bbox), z-순서, 색·폰트·가시성 등 속성 보유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FF6B35"/>
                </a:solidFill>
                <a:latin typeface="맑은 고딕"/>
              </a:rPr>
              <a:t>● </a:t>
            </a:r>
            <a:r>
              <a:rPr sz="1700" b="0">
                <a:solidFill>
                  <a:srgbClr val="475569"/>
                </a:solidFill>
                <a:latin typeface="맑은 고딕"/>
              </a:rPr>
              <a:t>의존성 없는 검증기(validateLayerDocument)로 구조 보장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FF6B35"/>
                </a:solidFill>
                <a:latin typeface="맑은 고딕"/>
              </a:rPr>
              <a:t>● </a:t>
            </a:r>
            <a:r>
              <a:rPr sz="1700" b="0">
                <a:solidFill>
                  <a:srgbClr val="475569"/>
                </a:solidFill>
                <a:latin typeface="맑은 고딕"/>
              </a:rPr>
              <a:t>렌더 방식이 바뀌어도 이 스키마는 그대로 재사용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2103120"/>
            <a:ext cx="4434840" cy="4023360"/>
          </a:xfrm>
          <a:prstGeom prst="roundRect">
            <a:avLst>
              <a:gd name="adj" fmla="val 12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2377440"/>
            <a:ext cx="39319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7EE787"/>
                </a:solidFill>
                <a:latin typeface="Consolas"/>
              </a:rPr>
              <a:t>LayerDocument = {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Consolas"/>
              </a:rPr>
              <a:t>  canvas: { w, h },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Consolas"/>
              </a:rPr>
              <a:t>  layers: Layer[]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Consolas"/>
              </a:rPr>
              <a:t>Text  { content, color, fontSize, bbox, z }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Consolas"/>
              </a:rPr>
              <a:t>Shape { shape, fill, bbox, z }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Consolas"/>
              </a:rPr>
              <a:t>Image { src, fit, bbox, z }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Consolas"/>
              </a:rPr>
              <a:t>Background { source, value, overlay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6B35"/>
                </a:solidFill>
                <a:latin typeface="맑은 고딕"/>
              </a:rPr>
              <a:t>DATA FLOW</a:t>
            </a:r>
          </a:p>
          <a:p>
            <a:pPr>
              <a:spcBef>
                <a:spcPts val="200"/>
              </a:spcBef>
            </a:pPr>
            <a:r>
              <a:rPr sz="3000" b="1">
                <a:solidFill>
                  <a:srgbClr val="1A202C"/>
                </a:solidFill>
                <a:latin typeface="맑은 고딕"/>
              </a:rPr>
              <a:t>전체 데이터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627632"/>
            <a:ext cx="100584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1078992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48840"/>
            <a:ext cx="128016" cy="78638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3774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1">
                <a:solidFill>
                  <a:srgbClr val="FF6B35"/>
                </a:solidFill>
                <a:latin typeface="맑은 고딕"/>
              </a:rPr>
              <a:t>사용자 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48840"/>
            <a:ext cx="78638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50" b="0">
                <a:solidFill>
                  <a:srgbClr val="475569"/>
                </a:solidFill>
                <a:latin typeface="맑은 고딕"/>
              </a:rPr>
              <a:t>주제 · 사진 · AI 배경 토글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43600" y="2916936"/>
            <a:ext cx="310896" cy="146304"/>
          </a:xfrm>
          <a:prstGeom prst="down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3099816"/>
            <a:ext cx="1078992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099816"/>
            <a:ext cx="128016" cy="78638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099816"/>
            <a:ext cx="23774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1">
                <a:solidFill>
                  <a:srgbClr val="FF6B35"/>
                </a:solidFill>
                <a:latin typeface="맑은 고딕"/>
              </a:rPr>
              <a:t>render-card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099816"/>
            <a:ext cx="78638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50" b="0">
                <a:solidFill>
                  <a:srgbClr val="475569"/>
                </a:solidFill>
                <a:latin typeface="맑은 고딕"/>
              </a:rPr>
              <a:t>①AI 배경 생성  ②LLM 레이어 문서 생성  ③합성·검증·반환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43600" y="3867912"/>
            <a:ext cx="310896" cy="146304"/>
          </a:xfrm>
          <a:prstGeom prst="down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4050792"/>
            <a:ext cx="1078992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050792"/>
            <a:ext cx="128016" cy="78638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050792"/>
            <a:ext cx="23774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1">
                <a:solidFill>
                  <a:srgbClr val="FF6B35"/>
                </a:solidFill>
                <a:latin typeface="맑은 고딕"/>
              </a:rPr>
              <a:t>LayerEditor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050792"/>
            <a:ext cx="78638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50" b="0">
                <a:solidFill>
                  <a:srgbClr val="475569"/>
                </a:solidFill>
                <a:latin typeface="맑은 고딕"/>
              </a:rPr>
              <a:t>브라우저 편집: 드래그 · 텍스트 수정 · 색/크기 · 배경 재생성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5943600" y="4818888"/>
            <a:ext cx="310896" cy="146304"/>
          </a:xfrm>
          <a:prstGeom prst="down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5001768"/>
            <a:ext cx="1078992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5001768"/>
            <a:ext cx="128016" cy="78638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001768"/>
            <a:ext cx="23774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1">
                <a:solidFill>
                  <a:srgbClr val="FF6B35"/>
                </a:solidFill>
                <a:latin typeface="맑은 고딕"/>
              </a:rPr>
              <a:t>고화질 저장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001768"/>
            <a:ext cx="78638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50" b="0">
                <a:solidFill>
                  <a:srgbClr val="475569"/>
                </a:solidFill>
                <a:latin typeface="맑은 고딕"/>
              </a:rPr>
              <a:t>브라우저에서 이미지 추출 (서버 크롬 없음)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6B35"/>
                </a:solidFill>
                <a:latin typeface="맑은 고딕"/>
              </a:rPr>
              <a:t>FEATURES</a:t>
            </a:r>
          </a:p>
          <a:p>
            <a:pPr>
              <a:spcBef>
                <a:spcPts val="200"/>
              </a:spcBef>
            </a:pPr>
            <a:r>
              <a:rPr sz="3000" b="1">
                <a:solidFill>
                  <a:srgbClr val="1A202C"/>
                </a:solidFill>
                <a:latin typeface="맑은 고딕"/>
              </a:rPr>
              <a:t>주요 기능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627632"/>
            <a:ext cx="100584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5285232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48840"/>
            <a:ext cx="128016" cy="17830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04872"/>
            <a:ext cx="4645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A202C"/>
                </a:solidFill>
                <a:latin typeface="맑은 고딕"/>
              </a:rPr>
              <a:t>편집기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71800"/>
            <a:ext cx="464515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0">
                <a:solidFill>
                  <a:srgbClr val="475569"/>
                </a:solidFill>
                <a:latin typeface="맑은 고딕"/>
              </a:rPr>
              <a:t>클릭 선택 · 드래그 이동 · 더블클릭 텍스트 수정 · 폰트 크기/색 · 가시성 토글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148840"/>
            <a:ext cx="5285232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48840"/>
            <a:ext cx="128016" cy="17830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2404872"/>
            <a:ext cx="4645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A202C"/>
                </a:solidFill>
                <a:latin typeface="맑은 고딕"/>
              </a:rPr>
              <a:t>AI 배경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971800"/>
            <a:ext cx="464515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0">
                <a:solidFill>
                  <a:srgbClr val="475569"/>
                </a:solidFill>
                <a:latin typeface="맑은 고딕"/>
              </a:rPr>
              <a:t>주제 기반 텍스트 없는 배경 생성 · “다시 생성” 버튼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160520"/>
            <a:ext cx="5285232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160520"/>
            <a:ext cx="128016" cy="17830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416552"/>
            <a:ext cx="4645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A202C"/>
                </a:solidFill>
                <a:latin typeface="맑은 고딕"/>
              </a:rPr>
              <a:t>레이아웃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983480"/>
            <a:ext cx="464515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0">
                <a:solidFill>
                  <a:srgbClr val="475569"/>
                </a:solidFill>
                <a:latin typeface="맑은 고딕"/>
              </a:rPr>
              <a:t>LLM이 한글 카피 · 위치 · 계층까지 자동 생성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4160520"/>
            <a:ext cx="5285232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4160520"/>
            <a:ext cx="128016" cy="17830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4416552"/>
            <a:ext cx="4645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A202C"/>
                </a:solidFill>
                <a:latin typeface="맑은 고딕"/>
              </a:rPr>
              <a:t>안정성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4983480"/>
            <a:ext cx="464515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0">
                <a:solidFill>
                  <a:srgbClr val="475569"/>
                </a:solidFill>
                <a:latin typeface="맑은 고딕"/>
              </a:rPr>
              <a:t>휴리스틱 fallback · 배경 실패 시에도 기본 흐름 유지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6B35"/>
                </a:solidFill>
                <a:latin typeface="맑은 고딕"/>
              </a:rPr>
              <a:t>TECH CHANGES</a:t>
            </a:r>
          </a:p>
          <a:p>
            <a:pPr>
              <a:spcBef>
                <a:spcPts val="200"/>
              </a:spcBef>
            </a:pPr>
            <a:r>
              <a:rPr sz="3000" b="1">
                <a:solidFill>
                  <a:srgbClr val="1A202C"/>
                </a:solidFill>
                <a:latin typeface="맑은 고딕"/>
              </a:rPr>
              <a:t>기술 변경 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627632"/>
            <a:ext cx="100584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789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FF6B35"/>
                </a:solidFill>
                <a:latin typeface="맑은 고딕"/>
              </a:rPr>
              <a:t>● </a:t>
            </a:r>
            <a:r>
              <a:rPr sz="1800" b="0">
                <a:solidFill>
                  <a:srgbClr val="475569"/>
                </a:solidFill>
                <a:latin typeface="맑은 고딕"/>
              </a:rPr>
              <a:t>추가: 레이어 스키마 / 생성기 / 빌더 / 배경생성 모듈 + 레이어 편집기 UI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FF6B35"/>
                </a:solidFill>
                <a:latin typeface="맑은 고딕"/>
              </a:rPr>
              <a:t>● </a:t>
            </a:r>
            <a:r>
              <a:rPr sz="1800" b="0">
                <a:solidFill>
                  <a:srgbClr val="475569"/>
                </a:solidFill>
                <a:latin typeface="맑은 고딕"/>
              </a:rPr>
              <a:t>제거: 서버 측 헤드리스 크롬을 핫패스에서 제거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FF6B35"/>
                </a:solidFill>
                <a:latin typeface="맑은 고딕"/>
              </a:rPr>
              <a:t>● </a:t>
            </a:r>
            <a:r>
              <a:rPr sz="1800" b="0">
                <a:solidFill>
                  <a:srgbClr val="475569"/>
                </a:solidFill>
                <a:latin typeface="맑은 고딕"/>
              </a:rPr>
              <a:t>보안: 이미지 프록시에 SSRF 방어 (내부 IP 차단, 이미지 only)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FF6B35"/>
                </a:solidFill>
                <a:latin typeface="맑은 고딕"/>
              </a:rPr>
              <a:t>● </a:t>
            </a:r>
            <a:r>
              <a:rPr sz="1800" b="0">
                <a:solidFill>
                  <a:srgbClr val="475569"/>
                </a:solidFill>
                <a:latin typeface="맑은 고딕"/>
              </a:rPr>
              <a:t>설정: REPLICATE_API_TOKEN (AI 배경, 선택)</a:t>
            </a:r>
          </a:p>
          <a:p>
            <a:pPr lvl="1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64748B"/>
                </a:solidFill>
                <a:latin typeface="맑은 고딕"/>
              </a:rPr>
              <a:t>– </a:t>
            </a:r>
            <a:r>
              <a:rPr sz="1600" b="0">
                <a:solidFill>
                  <a:srgbClr val="64748B"/>
                </a:solidFill>
                <a:latin typeface="맑은 고딕"/>
              </a:rPr>
              <a:t>OPENAI_API_KEY (카피/레이아웃 생성)</a:t>
            </a:r>
          </a:p>
          <a:p>
            <a:pPr lvl="1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64748B"/>
                </a:solidFill>
                <a:latin typeface="맑은 고딕"/>
              </a:rPr>
              <a:t>– </a:t>
            </a:r>
            <a:r>
              <a:rPr sz="1600" b="0">
                <a:solidFill>
                  <a:srgbClr val="64748B"/>
                </a:solidFill>
                <a:latin typeface="맑은 고딕"/>
              </a:rPr>
              <a:t>DATABASE_URL (Prisma, 기존)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6B35"/>
                </a:solidFill>
                <a:latin typeface="맑은 고딕"/>
              </a:rPr>
              <a:t>NEXT STEP</a:t>
            </a:r>
          </a:p>
          <a:p>
            <a:pPr>
              <a:spcBef>
                <a:spcPts val="200"/>
              </a:spcBef>
            </a:pPr>
            <a:r>
              <a:rPr sz="3000" b="1">
                <a:solidFill>
                  <a:srgbClr val="1A202C"/>
                </a:solidFill>
                <a:latin typeface="맑은 고딕"/>
              </a:rPr>
              <a:t>다음 단계: Fabric.js 전환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627632"/>
            <a:ext cx="100584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789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FF6B35"/>
                </a:solidFill>
                <a:latin typeface="맑은 고딕"/>
              </a:rPr>
              <a:t>● </a:t>
            </a:r>
            <a:r>
              <a:rPr sz="1800" b="0">
                <a:solidFill>
                  <a:srgbClr val="475569"/>
                </a:solidFill>
                <a:latin typeface="맑은 고딕"/>
              </a:rPr>
              <a:t>렌더링을 Fabric.js 캔버스로 교체 (Chromium · html-to-image 제거)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FF6B35"/>
                </a:solidFill>
                <a:latin typeface="맑은 고딕"/>
              </a:rPr>
              <a:t>● </a:t>
            </a:r>
            <a:r>
              <a:rPr sz="1800" b="0">
                <a:solidFill>
                  <a:srgbClr val="475569"/>
                </a:solidFill>
                <a:latin typeface="맑은 고딕"/>
              </a:rPr>
              <a:t>LayerDocument → Fabric 객체 매핑</a:t>
            </a:r>
          </a:p>
          <a:p>
            <a:pPr lvl="1"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64748B"/>
                </a:solidFill>
                <a:latin typeface="맑은 고딕"/>
              </a:rPr>
              <a:t>– </a:t>
            </a:r>
            <a:r>
              <a:rPr sz="1600" b="0">
                <a:solidFill>
                  <a:srgbClr val="64748B"/>
                </a:solidFill>
                <a:latin typeface="맑은 고딕"/>
              </a:rPr>
              <a:t>Text → Textbox (인라인 편집 · 드래그 기본 제공)</a:t>
            </a:r>
          </a:p>
          <a:p>
            <a:pPr lvl="1"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64748B"/>
                </a:solidFill>
                <a:latin typeface="맑은 고딕"/>
              </a:rPr>
              <a:t>– </a:t>
            </a:r>
            <a:r>
              <a:rPr sz="1600" b="0">
                <a:solidFill>
                  <a:srgbClr val="64748B"/>
                </a:solidFill>
                <a:latin typeface="맑은 고딕"/>
              </a:rPr>
              <a:t>Shape → Rect / Circle / Line, Background → 이미지 / 그라데이션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FF6B35"/>
                </a:solidFill>
                <a:latin typeface="맑은 고딕"/>
              </a:rPr>
              <a:t>● </a:t>
            </a:r>
            <a:r>
              <a:rPr sz="1800" b="0">
                <a:solidFill>
                  <a:srgbClr val="475569"/>
                </a:solidFill>
                <a:latin typeface="맑은 고딕"/>
              </a:rPr>
              <a:t>export: canvas.toDataURL({ multiplier }) 로 풀해상도 저장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FF6B35"/>
                </a:solidFill>
                <a:latin typeface="맑은 고딕"/>
              </a:rPr>
              <a:t>● </a:t>
            </a:r>
            <a:r>
              <a:rPr sz="1800" b="0">
                <a:solidFill>
                  <a:srgbClr val="475569"/>
                </a:solidFill>
                <a:latin typeface="맑은 고딕"/>
              </a:rPr>
              <a:t>스키마 · 파이프라인은 유지, 렌더 레이어만 교체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806440"/>
            <a:ext cx="10789920" cy="713232"/>
          </a:xfrm>
          <a:prstGeom prst="roundRect">
            <a:avLst>
              <a:gd name="adj" fmla="val 12000"/>
            </a:avLst>
          </a:prstGeom>
          <a:solidFill>
            <a:srgbClr val="FFF5EF"/>
          </a:solidFill>
          <a:ln w="1587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806440"/>
            <a:ext cx="103327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>
                <a:solidFill>
                  <a:srgbClr val="1A202C"/>
                </a:solidFill>
                <a:latin typeface="맑은 고딕"/>
              </a:rPr>
              <a:t>💡 핵심: 데이터 모델은 그대로 두고 ‘그리는 부분’만 Fabric.js로 바꾸면 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6B35"/>
                </a:solidFill>
                <a:latin typeface="맑은 고딕"/>
              </a:rPr>
              <a:t>STATUS</a:t>
            </a:r>
          </a:p>
          <a:p>
            <a:pPr>
              <a:spcBef>
                <a:spcPts val="200"/>
              </a:spcBef>
            </a:pPr>
            <a:r>
              <a:rPr sz="3000" b="1">
                <a:solidFill>
                  <a:srgbClr val="1A202C"/>
                </a:solidFill>
                <a:latin typeface="맑은 고딕"/>
              </a:rPr>
              <a:t>현재 상태 / 남은 일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627632"/>
            <a:ext cx="100584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7899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900" b="1">
                <a:solidFill>
                  <a:srgbClr val="FF6B35"/>
                </a:solidFill>
                <a:latin typeface="맑은 고딕"/>
              </a:rPr>
              <a:t>● </a:t>
            </a:r>
            <a:r>
              <a:rPr sz="1900" b="0">
                <a:solidFill>
                  <a:srgbClr val="475569"/>
                </a:solidFill>
                <a:latin typeface="맑은 고딕"/>
              </a:rPr>
              <a:t>PR 상태: 열림 · master와 머지 충돌 → 리베이스 필요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900" b="1">
                <a:solidFill>
                  <a:srgbClr val="FF6B35"/>
                </a:solidFill>
                <a:latin typeface="맑은 고딕"/>
              </a:rPr>
              <a:t>● </a:t>
            </a:r>
            <a:r>
              <a:rPr sz="1900" b="0">
                <a:solidFill>
                  <a:srgbClr val="475569"/>
                </a:solidFill>
                <a:latin typeface="맑은 고딕"/>
              </a:rPr>
              <a:t>미완 QA: 브라우저 편집→저장 흐름 검증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900" b="1">
                <a:solidFill>
                  <a:srgbClr val="FF6B35"/>
                </a:solidFill>
                <a:latin typeface="맑은 고딕"/>
              </a:rPr>
              <a:t>● </a:t>
            </a:r>
            <a:r>
              <a:rPr sz="1900" b="0">
                <a:solidFill>
                  <a:srgbClr val="475569"/>
                </a:solidFill>
                <a:latin typeface="맑은 고딕"/>
              </a:rPr>
              <a:t>미완 QA: 실제 토큰으로 AI 배경 생성 테스트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900" b="1">
                <a:solidFill>
                  <a:srgbClr val="FF6B35"/>
                </a:solidFill>
                <a:latin typeface="맑은 고딕"/>
              </a:rPr>
              <a:t>● </a:t>
            </a:r>
            <a:r>
              <a:rPr sz="1900" b="0">
                <a:solidFill>
                  <a:srgbClr val="475569"/>
                </a:solidFill>
                <a:latin typeface="맑은 고딕"/>
              </a:rPr>
              <a:t>결정: 최종 렌더링은 Fabric.js로 진행 예정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035040"/>
            <a:ext cx="10789920" cy="457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맑은 고딕"/>
              </a:rPr>
              <a:t>carnews-insta · PR #11 · branch claude/exciting-carson-HHMRg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